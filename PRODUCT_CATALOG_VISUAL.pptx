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/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dark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1A2620"/>
          </a:solidFill>
          <a:ln>
            <a:noFill/>
          </a:ln>
        </p:spPr>
      </p:sp>
      <p:sp>
        <p:nvSpPr>
          <p:cNvPr id="3" name="Orb green"/>
          <p:cNvSpPr/>
          <p:nvPr/>
        </p:nvSpPr>
        <p:spPr>
          <a:xfrm>
            <a:off x="9000000" y="-1500000"/>
            <a:ext cx="4800000" cy="4800000"/>
          </a:xfrm>
          <a:prstGeom prst="ellipse">
            <a:avLst/>
          </a:prstGeom>
          <a:solidFill>
            <a:srgbClr val="167A57">
              <a:alpha val="43000"/>
            </a:srgbClr>
          </a:solidFill>
          <a:ln>
            <a:noFill/>
          </a:ln>
        </p:spPr>
      </p:sp>
      <p:sp>
        <p:nvSpPr>
          <p:cNvPr id="4" name="Orb amber"/>
          <p:cNvSpPr/>
          <p:nvPr/>
        </p:nvSpPr>
        <p:spPr>
          <a:xfrm>
            <a:off x="-900000" y="4950000"/>
            <a:ext cx="3200000" cy="3200000"/>
          </a:xfrm>
          <a:prstGeom prst="ellipse">
            <a:avLst/>
          </a:prstGeom>
          <a:solidFill>
            <a:srgbClr val="D4922D">
              <a:alpha val="36000"/>
            </a:srgbClr>
          </a:solidFill>
          <a:ln>
            <a:noFill/>
          </a:ln>
        </p:spPr>
      </p:sp>
      <p:sp>
        <p:nvSpPr>
          <p:cNvPr id="5" name="Soft grid 1"/>
          <p:cNvSpPr/>
          <p:nvPr/>
        </p:nvSpPr>
        <p:spPr>
          <a:xfrm>
            <a:off x="7500000" y="4820000"/>
            <a:ext cx="4900000" cy="32000"/>
          </a:xfrm>
          <a:prstGeom prst="rect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6" name="Soft grid 2"/>
          <p:cNvSpPr/>
          <p:nvPr/>
        </p:nvSpPr>
        <p:spPr>
          <a:xfrm>
            <a:off x="8100000" y="5420000"/>
            <a:ext cx="3800000" cy="32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7" name="Kicker"/>
          <p:cNvSpPr txBox="1"/>
          <p:nvPr/>
        </p:nvSpPr>
        <p:spPr>
          <a:xfrm>
            <a:off x="820000" y="830000"/>
            <a:ext cx="47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A7D7BF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A7D7BF"/>
                </a:solidFill>
                <a:latin typeface="Aptos"/>
                <a:cs typeface="Aptos"/>
              </a:rPr>
              <a:t>SMART FINANCE AI</a:t>
            </a:r>
          </a:p>
        </p:txBody>
      </p:sp>
      <p:sp>
        <p:nvSpPr>
          <p:cNvPr id="8" name="Hero title"/>
          <p:cNvSpPr txBox="1"/>
          <p:nvPr/>
        </p:nvSpPr>
        <p:spPr>
          <a:xfrm>
            <a:off x="800000" y="1280000"/>
            <a:ext cx="7400000" cy="1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5300">
                <a:solidFill>
                  <a:srgbClr val="FFFFFF"/>
                </a:solidFill>
                <a:latin typeface="Aptos Display"/>
                <a:cs typeface="Aptos Display"/>
              </a:defRPr>
            </a:pPr>
            <a:r>
              <a:rPr lang="vi-VN" sz="5300" b="1">
                <a:solidFill>
                  <a:srgbClr val="FFFFFF"/>
                </a:solidFill>
                <a:latin typeface="Aptos Display"/>
                <a:cs typeface="Aptos Display"/>
              </a:rPr>
              <a:t>Product Catalog</a:t>
            </a:r>
          </a:p>
          <a:p>
            <a:pPr algn="l">
              <a:spcAft>
                <a:spcPts val="0"/>
              </a:spcAft>
              <a:defRPr sz="1750">
                <a:solidFill>
                  <a:srgbClr val="DDEBE2"/>
                </a:solidFill>
                <a:latin typeface="Aptos"/>
                <a:cs typeface="Aptos"/>
              </a:defRPr>
            </a:pPr>
            <a:r>
              <a:rPr lang="vi-VN" sz="1750">
                <a:solidFill>
                  <a:srgbClr val="DDEBE2"/>
                </a:solidFill>
                <a:latin typeface="Aptos"/>
                <a:cs typeface="Aptos"/>
              </a:rPr>
              <a:t>Danh mục sản phẩm cho hệ thống gợi ý tài chính</a:t>
            </a:r>
          </a:p>
        </p:txBody>
      </p:sp>
      <p:sp>
        <p:nvSpPr>
          <p:cNvPr id="9" name="Hero body"/>
          <p:cNvSpPr txBox="1"/>
          <p:nvPr/>
        </p:nvSpPr>
        <p:spPr>
          <a:xfrm>
            <a:off x="840000" y="3050000"/>
            <a:ext cx="6400000" cy="7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500">
                <a:solidFill>
                  <a:srgbClr val="F4F0E8"/>
                </a:solidFill>
                <a:latin typeface="Aptos"/>
                <a:cs typeface="Aptos"/>
              </a:defRPr>
            </a:pPr>
            <a:r>
              <a:rPr lang="vi-VN" sz="1500">
                <a:solidFill>
                  <a:srgbClr val="F4F0E8"/>
                </a:solidFill>
                <a:latin typeface="Aptos"/>
                <a:cs typeface="Aptos"/>
              </a:rPr>
              <a:t>Mục tiêu: chọn đúng sản phẩm cho từng khách hàng dựa trên hành vi, rủi ro và ưu tiên chiến dịch.</a:t>
            </a:r>
          </a:p>
        </p:txBody>
      </p:sp>
      <p:sp>
        <p:nvSpPr>
          <p:cNvPr id="10" name="Metric sản phẩm"/>
          <p:cNvSpPr/>
          <p:nvPr/>
        </p:nvSpPr>
        <p:spPr>
          <a:xfrm>
            <a:off x="820000" y="4420000"/>
            <a:ext cx="2300000" cy="15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1" name="Metric dot sản phẩm"/>
          <p:cNvSpPr/>
          <p:nvPr/>
        </p:nvSpPr>
        <p:spPr>
          <a:xfrm>
            <a:off x="980000" y="4590000"/>
            <a:ext cx="170000" cy="170000"/>
          </a:xfrm>
          <a:prstGeom prst="ellipse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12" name="Metric value sản phẩm"/>
          <p:cNvSpPr txBox="1"/>
          <p:nvPr/>
        </p:nvSpPr>
        <p:spPr>
          <a:xfrm>
            <a:off x="1010000" y="4840000"/>
            <a:ext cx="192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3600">
                <a:solidFill>
                  <a:srgbClr val="167A57"/>
                </a:solidFill>
                <a:latin typeface="Aptos Display"/>
                <a:cs typeface="Aptos Display"/>
              </a:defRPr>
            </a:pPr>
            <a:r>
              <a:rPr lang="vi-VN" sz="3600" b="1">
                <a:solidFill>
                  <a:srgbClr val="167A57"/>
                </a:solidFill>
                <a:latin typeface="Aptos Display"/>
                <a:cs typeface="Aptos Display"/>
              </a:rPr>
              <a:t>15</a:t>
            </a:r>
          </a:p>
        </p:txBody>
      </p:sp>
      <p:sp>
        <p:nvSpPr>
          <p:cNvPr id="13" name="Metric label sản phẩm"/>
          <p:cNvSpPr txBox="1"/>
          <p:nvPr/>
        </p:nvSpPr>
        <p:spPr>
          <a:xfrm>
            <a:off x="1030000" y="5490000"/>
            <a:ext cx="188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1150">
                <a:solidFill>
                  <a:srgbClr val="69746E"/>
                </a:solidFill>
                <a:latin typeface="Aptos"/>
                <a:cs typeface="Aptos"/>
              </a:rPr>
              <a:t>sản phẩm</a:t>
            </a:r>
          </a:p>
        </p:txBody>
      </p:sp>
      <p:sp>
        <p:nvSpPr>
          <p:cNvPr id="14" name="Metric nhóm"/>
          <p:cNvSpPr/>
          <p:nvPr/>
        </p:nvSpPr>
        <p:spPr>
          <a:xfrm>
            <a:off x="3430000" y="4420000"/>
            <a:ext cx="2300000" cy="15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5" name="Metric dot nhóm"/>
          <p:cNvSpPr/>
          <p:nvPr/>
        </p:nvSpPr>
        <p:spPr>
          <a:xfrm>
            <a:off x="3590000" y="4590000"/>
            <a:ext cx="170000" cy="170000"/>
          </a:xfrm>
          <a:prstGeom prst="ellipse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6" name="Metric value nhóm"/>
          <p:cNvSpPr txBox="1"/>
          <p:nvPr/>
        </p:nvSpPr>
        <p:spPr>
          <a:xfrm>
            <a:off x="3620000" y="4840000"/>
            <a:ext cx="192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3600">
                <a:solidFill>
                  <a:srgbClr val="2B6777"/>
                </a:solidFill>
                <a:latin typeface="Aptos Display"/>
                <a:cs typeface="Aptos Display"/>
              </a:defRPr>
            </a:pPr>
            <a:r>
              <a:rPr lang="vi-VN" sz="3600" b="1">
                <a:solidFill>
                  <a:srgbClr val="2B6777"/>
                </a:solidFill>
                <a:latin typeface="Aptos Display"/>
                <a:cs typeface="Aptos Display"/>
              </a:rPr>
              <a:t>7</a:t>
            </a:r>
          </a:p>
        </p:txBody>
      </p:sp>
      <p:sp>
        <p:nvSpPr>
          <p:cNvPr id="17" name="Metric label nhóm"/>
          <p:cNvSpPr txBox="1"/>
          <p:nvPr/>
        </p:nvSpPr>
        <p:spPr>
          <a:xfrm>
            <a:off x="3640000" y="5490000"/>
            <a:ext cx="188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1150">
                <a:solidFill>
                  <a:srgbClr val="69746E"/>
                </a:solidFill>
                <a:latin typeface="Aptos"/>
                <a:cs typeface="Aptos"/>
              </a:rPr>
              <a:t>nhóm</a:t>
            </a:r>
          </a:p>
        </p:txBody>
      </p:sp>
      <p:sp>
        <p:nvSpPr>
          <p:cNvPr id="18" name="Metric mức rủi ro"/>
          <p:cNvSpPr/>
          <p:nvPr/>
        </p:nvSpPr>
        <p:spPr>
          <a:xfrm>
            <a:off x="6040000" y="4420000"/>
            <a:ext cx="2300000" cy="15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9" name="Metric dot mức rủi ro"/>
          <p:cNvSpPr/>
          <p:nvPr/>
        </p:nvSpPr>
        <p:spPr>
          <a:xfrm>
            <a:off x="6200000" y="4590000"/>
            <a:ext cx="170000" cy="170000"/>
          </a:xfrm>
          <a:prstGeom prst="ellipse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20" name="Metric value mức rủi ro"/>
          <p:cNvSpPr txBox="1"/>
          <p:nvPr/>
        </p:nvSpPr>
        <p:spPr>
          <a:xfrm>
            <a:off x="6230000" y="4840000"/>
            <a:ext cx="1920000" cy="5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3600">
                <a:solidFill>
                  <a:srgbClr val="D4922D"/>
                </a:solidFill>
                <a:latin typeface="Aptos Display"/>
                <a:cs typeface="Aptos Display"/>
              </a:defRPr>
            </a:pPr>
            <a:r>
              <a:rPr lang="vi-VN" sz="3600" b="1">
                <a:solidFill>
                  <a:srgbClr val="D4922D"/>
                </a:solidFill>
                <a:latin typeface="Aptos Display"/>
                <a:cs typeface="Aptos Display"/>
              </a:rPr>
              <a:t>3</a:t>
            </a:r>
          </a:p>
        </p:txBody>
      </p:sp>
      <p:sp>
        <p:nvSpPr>
          <p:cNvPr id="21" name="Metric label mức rủi ro"/>
          <p:cNvSpPr txBox="1"/>
          <p:nvPr/>
        </p:nvSpPr>
        <p:spPr>
          <a:xfrm>
            <a:off x="6250000" y="5490000"/>
            <a:ext cx="188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1150">
                <a:solidFill>
                  <a:srgbClr val="69746E"/>
                </a:solidFill>
                <a:latin typeface="Aptos"/>
                <a:cs typeface="Aptos"/>
              </a:rPr>
              <a:t>mức rủi ro</a:t>
            </a:r>
          </a:p>
        </p:txBody>
      </p:sp>
      <p:sp>
        <p:nvSpPr>
          <p:cNvPr id="22" name="Hero card"/>
          <p:cNvSpPr/>
          <p:nvPr/>
        </p:nvSpPr>
        <p:spPr>
          <a:xfrm>
            <a:off x="8880000" y="1310000"/>
            <a:ext cx="3560000" cy="452000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</p:sp>
      <p:sp>
        <p:nvSpPr>
          <p:cNvPr id="23" name="Mini map title"/>
          <p:cNvSpPr txBox="1"/>
          <p:nvPr/>
        </p:nvSpPr>
        <p:spPr>
          <a:xfrm>
            <a:off x="9210000" y="1690000"/>
            <a:ext cx="2900000" cy="3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6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1650" b="1">
                <a:solidFill>
                  <a:srgbClr val="1A2620"/>
                </a:solidFill>
                <a:latin typeface="Aptos Display"/>
                <a:cs typeface="Aptos Display"/>
              </a:rPr>
              <a:t>Catalog map</a:t>
            </a:r>
          </a:p>
        </p:txBody>
      </p:sp>
      <p:sp>
        <p:nvSpPr>
          <p:cNvPr id="24" name="Risk ring Low"/>
          <p:cNvSpPr/>
          <p:nvPr/>
        </p:nvSpPr>
        <p:spPr>
          <a:xfrm>
            <a:off x="9250000" y="2340000"/>
            <a:ext cx="550000" cy="550000"/>
          </a:xfrm>
          <a:prstGeom prst="ellipse">
            <a:avLst/>
          </a:prstGeom>
          <a:solidFill>
            <a:srgbClr val="167A57">
              <a:alpha val="85000"/>
            </a:srgbClr>
          </a:solidFill>
          <a:ln>
            <a:noFill/>
          </a:ln>
        </p:spPr>
      </p:sp>
      <p:sp>
        <p:nvSpPr>
          <p:cNvPr id="25" name="Risk count Low"/>
          <p:cNvSpPr txBox="1"/>
          <p:nvPr/>
        </p:nvSpPr>
        <p:spPr>
          <a:xfrm>
            <a:off x="9250000" y="2465000"/>
            <a:ext cx="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50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500" b="1">
                <a:solidFill>
                  <a:srgbClr val="FFFFFF"/>
                </a:solidFill>
                <a:latin typeface="Aptos"/>
                <a:cs typeface="Aptos"/>
              </a:rPr>
              <a:t>8</a:t>
            </a:r>
          </a:p>
        </p:txBody>
      </p:sp>
      <p:sp>
        <p:nvSpPr>
          <p:cNvPr id="26" name="Risk label Low"/>
          <p:cNvSpPr txBox="1"/>
          <p:nvPr/>
        </p:nvSpPr>
        <p:spPr>
          <a:xfrm>
            <a:off x="10020000" y="2425000"/>
            <a:ext cx="182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250" b="1">
                <a:solidFill>
                  <a:srgbClr val="1A2620"/>
                </a:solidFill>
                <a:latin typeface="Aptos"/>
                <a:cs typeface="Aptos"/>
              </a:rPr>
              <a:t>Low risk</a:t>
            </a:r>
          </a:p>
        </p:txBody>
      </p:sp>
      <p:sp>
        <p:nvSpPr>
          <p:cNvPr id="27" name="Risk ring Medium"/>
          <p:cNvSpPr/>
          <p:nvPr/>
        </p:nvSpPr>
        <p:spPr>
          <a:xfrm>
            <a:off x="9250000" y="3170000"/>
            <a:ext cx="550000" cy="550000"/>
          </a:xfrm>
          <a:prstGeom prst="ellipse">
            <a:avLst/>
          </a:prstGeom>
          <a:solidFill>
            <a:srgbClr val="D4922D">
              <a:alpha val="85000"/>
            </a:srgbClr>
          </a:solidFill>
          <a:ln>
            <a:noFill/>
          </a:ln>
        </p:spPr>
      </p:sp>
      <p:sp>
        <p:nvSpPr>
          <p:cNvPr id="28" name="Risk count Medium"/>
          <p:cNvSpPr txBox="1"/>
          <p:nvPr/>
        </p:nvSpPr>
        <p:spPr>
          <a:xfrm>
            <a:off x="9250000" y="3295000"/>
            <a:ext cx="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50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500" b="1">
                <a:solidFill>
                  <a:srgbClr val="FFFFFF"/>
                </a:solidFill>
                <a:latin typeface="Aptos"/>
                <a:cs typeface="Aptos"/>
              </a:rPr>
              <a:t>6</a:t>
            </a:r>
          </a:p>
        </p:txBody>
      </p:sp>
      <p:sp>
        <p:nvSpPr>
          <p:cNvPr id="29" name="Risk label Medium"/>
          <p:cNvSpPr txBox="1"/>
          <p:nvPr/>
        </p:nvSpPr>
        <p:spPr>
          <a:xfrm>
            <a:off x="10020000" y="3255000"/>
            <a:ext cx="182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250" b="1">
                <a:solidFill>
                  <a:srgbClr val="1A2620"/>
                </a:solidFill>
                <a:latin typeface="Aptos"/>
                <a:cs typeface="Aptos"/>
              </a:rPr>
              <a:t>Medium risk</a:t>
            </a:r>
          </a:p>
        </p:txBody>
      </p:sp>
      <p:sp>
        <p:nvSpPr>
          <p:cNvPr id="30" name="Risk ring High"/>
          <p:cNvSpPr/>
          <p:nvPr/>
        </p:nvSpPr>
        <p:spPr>
          <a:xfrm>
            <a:off x="9250000" y="4000000"/>
            <a:ext cx="550000" cy="550000"/>
          </a:xfrm>
          <a:prstGeom prst="ellipse">
            <a:avLst/>
          </a:prstGeom>
          <a:solidFill>
            <a:srgbClr val="B74337">
              <a:alpha val="85000"/>
            </a:srgbClr>
          </a:solidFill>
          <a:ln>
            <a:noFill/>
          </a:ln>
        </p:spPr>
      </p:sp>
      <p:sp>
        <p:nvSpPr>
          <p:cNvPr id="31" name="Risk count High"/>
          <p:cNvSpPr txBox="1"/>
          <p:nvPr/>
        </p:nvSpPr>
        <p:spPr>
          <a:xfrm>
            <a:off x="9250000" y="4125000"/>
            <a:ext cx="5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50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500" b="1">
                <a:solidFill>
                  <a:srgbClr val="FFFFFF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32" name="Risk label High"/>
          <p:cNvSpPr txBox="1"/>
          <p:nvPr/>
        </p:nvSpPr>
        <p:spPr>
          <a:xfrm>
            <a:off x="10020000" y="4085000"/>
            <a:ext cx="182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250" b="1">
                <a:solidFill>
                  <a:srgbClr val="1A2620"/>
                </a:solidFill>
                <a:latin typeface="Aptos"/>
                <a:cs typeface="Aptos"/>
              </a:rPr>
              <a:t>High risk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20000" y="38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167A57"/>
                </a:solidFill>
                <a:latin typeface="Aptos"/>
                <a:cs typeface="Aptos"/>
              </a:rPr>
              <a:t>Ý TƯỞNG CHÍNH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00000" y="640000"/>
            <a:ext cx="119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28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2850" b="1">
                <a:solidFill>
                  <a:srgbClr val="1A2620"/>
                </a:solidFill>
                <a:latin typeface="Aptos Display"/>
                <a:cs typeface="Aptos Display"/>
              </a:rPr>
              <a:t>Product Catalog là gì?</a:t>
            </a:r>
          </a:p>
        </p:txBody>
      </p:sp>
      <p:sp>
        <p:nvSpPr>
          <p:cNvPr id="4" name="Intro"/>
          <p:cNvSpPr txBox="1"/>
          <p:nvPr/>
        </p:nvSpPr>
        <p:spPr>
          <a:xfrm>
            <a:off x="780000" y="1250000"/>
            <a:ext cx="98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5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1550">
                <a:solidFill>
                  <a:srgbClr val="69746E"/>
                </a:solidFill>
                <a:latin typeface="Aptos"/>
                <a:cs typeface="Aptos"/>
              </a:rPr>
              <a:t>Catalog là “bộ nhớ sản phẩm” kiêm “luật kinh doanh” để recommendation không gợi ý bừa.</a:t>
            </a:r>
          </a:p>
        </p:txBody>
      </p:sp>
      <p:sp>
        <p:nvSpPr>
          <p:cNvPr id="5" name="Question card 0"/>
          <p:cNvSpPr/>
          <p:nvPr/>
        </p:nvSpPr>
        <p:spPr>
          <a:xfrm>
            <a:off x="780000" y="2050000"/>
            <a:ext cx="2700000" cy="340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6" name="Question chip 0"/>
          <p:cNvSpPr/>
          <p:nvPr/>
        </p:nvSpPr>
        <p:spPr>
          <a:xfrm>
            <a:off x="1040000" y="2360000"/>
            <a:ext cx="590000" cy="460000"/>
          </a:xfrm>
          <a:prstGeom prst="round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7" name="Question num 0"/>
          <p:cNvSpPr txBox="1"/>
          <p:nvPr/>
        </p:nvSpPr>
        <p:spPr>
          <a:xfrm>
            <a:off x="1040000" y="2455000"/>
            <a:ext cx="59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FFFFFF"/>
                </a:solidFill>
                <a:latin typeface="Aptos"/>
                <a:cs typeface="Aptos"/>
              </a:rPr>
              <a:t>01</a:t>
            </a:r>
          </a:p>
        </p:txBody>
      </p:sp>
      <p:sp>
        <p:nvSpPr>
          <p:cNvPr id="8" name="Question title 0"/>
          <p:cNvSpPr txBox="1"/>
          <p:nvPr/>
        </p:nvSpPr>
        <p:spPr>
          <a:xfrm>
            <a:off x="1040000" y="3080000"/>
            <a:ext cx="213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78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1780" b="1">
                <a:solidFill>
                  <a:srgbClr val="1A2620"/>
                </a:solidFill>
                <a:latin typeface="Aptos Display"/>
                <a:cs typeface="Aptos Display"/>
              </a:rPr>
              <a:t>Có sản phẩm nào?</a:t>
            </a:r>
          </a:p>
        </p:txBody>
      </p:sp>
      <p:sp>
        <p:nvSpPr>
          <p:cNvPr id="9" name="Question body 0"/>
          <p:cNvSpPr txBox="1"/>
          <p:nvPr/>
        </p:nvSpPr>
        <p:spPr>
          <a:xfrm>
            <a:off x="1040000" y="4030000"/>
            <a:ext cx="21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2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1220">
                <a:solidFill>
                  <a:srgbClr val="69746E"/>
                </a:solidFill>
                <a:latin typeface="Aptos"/>
                <a:cs typeface="Aptos"/>
              </a:rPr>
              <a:t>Danh sách offer đang active</a:t>
            </a:r>
          </a:p>
        </p:txBody>
      </p:sp>
      <p:sp>
        <p:nvSpPr>
          <p:cNvPr id="10" name="Question bottom 0"/>
          <p:cNvSpPr/>
          <p:nvPr/>
        </p:nvSpPr>
        <p:spPr>
          <a:xfrm>
            <a:off x="1040000" y="4920000"/>
            <a:ext cx="1260000" cy="70000"/>
          </a:xfrm>
          <a:prstGeom prst="round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11" name="Question card 1"/>
          <p:cNvSpPr/>
          <p:nvPr/>
        </p:nvSpPr>
        <p:spPr>
          <a:xfrm>
            <a:off x="3800000" y="2050000"/>
            <a:ext cx="2700000" cy="340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2" name="Question chip 1"/>
          <p:cNvSpPr/>
          <p:nvPr/>
        </p:nvSpPr>
        <p:spPr>
          <a:xfrm>
            <a:off x="4060000" y="2360000"/>
            <a:ext cx="590000" cy="460000"/>
          </a:xfrm>
          <a:prstGeom prst="round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3" name="Question num 1"/>
          <p:cNvSpPr txBox="1"/>
          <p:nvPr/>
        </p:nvSpPr>
        <p:spPr>
          <a:xfrm>
            <a:off x="4060000" y="2455000"/>
            <a:ext cx="59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FFFFFF"/>
                </a:solidFill>
                <a:latin typeface="Aptos"/>
                <a:cs typeface="Aptos"/>
              </a:rPr>
              <a:t>02</a:t>
            </a:r>
          </a:p>
        </p:txBody>
      </p:sp>
      <p:sp>
        <p:nvSpPr>
          <p:cNvPr id="14" name="Question title 1"/>
          <p:cNvSpPr txBox="1"/>
          <p:nvPr/>
        </p:nvSpPr>
        <p:spPr>
          <a:xfrm>
            <a:off x="4060000" y="3080000"/>
            <a:ext cx="213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78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1780" b="1">
                <a:solidFill>
                  <a:srgbClr val="1A2620"/>
                </a:solidFill>
                <a:latin typeface="Aptos Display"/>
                <a:cs typeface="Aptos Display"/>
              </a:rPr>
              <a:t>Dành cho ai?</a:t>
            </a:r>
          </a:p>
        </p:txBody>
      </p:sp>
      <p:sp>
        <p:nvSpPr>
          <p:cNvPr id="15" name="Question body 1"/>
          <p:cNvSpPr txBox="1"/>
          <p:nvPr/>
        </p:nvSpPr>
        <p:spPr>
          <a:xfrm>
            <a:off x="4060000" y="4030000"/>
            <a:ext cx="21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2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1220">
                <a:solidFill>
                  <a:srgbClr val="69746E"/>
                </a:solidFill>
                <a:latin typeface="Aptos"/>
                <a:cs typeface="Aptos"/>
              </a:rPr>
              <a:t>Hành vi và tín hiệu mục tiêu</a:t>
            </a:r>
          </a:p>
        </p:txBody>
      </p:sp>
      <p:sp>
        <p:nvSpPr>
          <p:cNvPr id="16" name="Question bottom 1"/>
          <p:cNvSpPr/>
          <p:nvPr/>
        </p:nvSpPr>
        <p:spPr>
          <a:xfrm>
            <a:off x="4060000" y="4920000"/>
            <a:ext cx="1260000" cy="70000"/>
          </a:xfrm>
          <a:prstGeom prst="round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7" name="Question card 2"/>
          <p:cNvSpPr/>
          <p:nvPr/>
        </p:nvSpPr>
        <p:spPr>
          <a:xfrm>
            <a:off x="6820000" y="2050000"/>
            <a:ext cx="2700000" cy="340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8" name="Question chip 2"/>
          <p:cNvSpPr/>
          <p:nvPr/>
        </p:nvSpPr>
        <p:spPr>
          <a:xfrm>
            <a:off x="7080000" y="2360000"/>
            <a:ext cx="590000" cy="460000"/>
          </a:xfrm>
          <a:prstGeom prst="roundRect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19" name="Question num 2"/>
          <p:cNvSpPr txBox="1"/>
          <p:nvPr/>
        </p:nvSpPr>
        <p:spPr>
          <a:xfrm>
            <a:off x="7080000" y="2455000"/>
            <a:ext cx="59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FFFFFF"/>
                </a:solidFill>
                <a:latin typeface="Aptos"/>
                <a:cs typeface="Aptos"/>
              </a:rPr>
              <a:t>03</a:t>
            </a:r>
          </a:p>
        </p:txBody>
      </p:sp>
      <p:sp>
        <p:nvSpPr>
          <p:cNvPr id="20" name="Question title 2"/>
          <p:cNvSpPr txBox="1"/>
          <p:nvPr/>
        </p:nvSpPr>
        <p:spPr>
          <a:xfrm>
            <a:off x="7080000" y="3080000"/>
            <a:ext cx="213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78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1780" b="1">
                <a:solidFill>
                  <a:srgbClr val="1A2620"/>
                </a:solidFill>
                <a:latin typeface="Aptos Display"/>
                <a:cs typeface="Aptos Display"/>
              </a:rPr>
              <a:t>Rủi ro thế nào?</a:t>
            </a:r>
          </a:p>
        </p:txBody>
      </p:sp>
      <p:sp>
        <p:nvSpPr>
          <p:cNvPr id="21" name="Question body 2"/>
          <p:cNvSpPr txBox="1"/>
          <p:nvPr/>
        </p:nvSpPr>
        <p:spPr>
          <a:xfrm>
            <a:off x="7080000" y="4030000"/>
            <a:ext cx="21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2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1220">
                <a:solidFill>
                  <a:srgbClr val="69746E"/>
                </a:solidFill>
                <a:latin typeface="Aptos"/>
                <a:cs typeface="Aptos"/>
              </a:rPr>
              <a:t>Low, Medium hoặc High</a:t>
            </a:r>
          </a:p>
        </p:txBody>
      </p:sp>
      <p:sp>
        <p:nvSpPr>
          <p:cNvPr id="22" name="Question bottom 2"/>
          <p:cNvSpPr/>
          <p:nvPr/>
        </p:nvSpPr>
        <p:spPr>
          <a:xfrm>
            <a:off x="7080000" y="4920000"/>
            <a:ext cx="1260000" cy="70000"/>
          </a:xfrm>
          <a:prstGeom prst="roundRect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23" name="Question card 3"/>
          <p:cNvSpPr/>
          <p:nvPr/>
        </p:nvSpPr>
        <p:spPr>
          <a:xfrm>
            <a:off x="9840000" y="2050000"/>
            <a:ext cx="2700000" cy="340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4" name="Question chip 3"/>
          <p:cNvSpPr/>
          <p:nvPr/>
        </p:nvSpPr>
        <p:spPr>
          <a:xfrm>
            <a:off x="10100000" y="2360000"/>
            <a:ext cx="590000" cy="460000"/>
          </a:xfrm>
          <a:prstGeom prst="roundRect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25" name="Question num 3"/>
          <p:cNvSpPr txBox="1"/>
          <p:nvPr/>
        </p:nvSpPr>
        <p:spPr>
          <a:xfrm>
            <a:off x="10100000" y="2455000"/>
            <a:ext cx="590000" cy="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FFFFFF"/>
                </a:solidFill>
                <a:latin typeface="Aptos"/>
                <a:cs typeface="Aptos"/>
              </a:rPr>
              <a:t>04</a:t>
            </a:r>
          </a:p>
        </p:txBody>
      </p:sp>
      <p:sp>
        <p:nvSpPr>
          <p:cNvPr id="26" name="Question title 3"/>
          <p:cNvSpPr txBox="1"/>
          <p:nvPr/>
        </p:nvSpPr>
        <p:spPr>
          <a:xfrm>
            <a:off x="10100000" y="3080000"/>
            <a:ext cx="2130000" cy="7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78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1780" b="1">
                <a:solidFill>
                  <a:srgbClr val="1A2620"/>
                </a:solidFill>
                <a:latin typeface="Aptos Display"/>
                <a:cs typeface="Aptos Display"/>
              </a:rPr>
              <a:t>Khi nào được gợi ý?</a:t>
            </a:r>
          </a:p>
        </p:txBody>
      </p:sp>
      <p:sp>
        <p:nvSpPr>
          <p:cNvPr id="27" name="Question body 3"/>
          <p:cNvSpPr txBox="1"/>
          <p:nvPr/>
        </p:nvSpPr>
        <p:spPr>
          <a:xfrm>
            <a:off x="10100000" y="4030000"/>
            <a:ext cx="21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2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1220">
                <a:solidFill>
                  <a:srgbClr val="69746E"/>
                </a:solidFill>
                <a:latin typeface="Aptos"/>
                <a:cs typeface="Aptos"/>
              </a:rPr>
              <a:t>Điều kiện eligibility</a:t>
            </a:r>
          </a:p>
        </p:txBody>
      </p:sp>
      <p:sp>
        <p:nvSpPr>
          <p:cNvPr id="28" name="Question bottom 3"/>
          <p:cNvSpPr/>
          <p:nvPr/>
        </p:nvSpPr>
        <p:spPr>
          <a:xfrm>
            <a:off x="10100000" y="4920000"/>
            <a:ext cx="1260000" cy="70000"/>
          </a:xfrm>
          <a:prstGeom prst="roundRect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29" name="Bottom note"/>
          <p:cNvSpPr/>
          <p:nvPr/>
        </p:nvSpPr>
        <p:spPr>
          <a:xfrm>
            <a:off x="1540000" y="5930000"/>
            <a:ext cx="10260000" cy="540000"/>
          </a:xfrm>
          <a:prstGeom prst="roundRect">
            <a:avLst/>
          </a:prstGeom>
          <a:solidFill>
            <a:srgbClr val="DDEBE2"/>
          </a:solidFill>
          <a:ln>
            <a:noFill/>
          </a:ln>
        </p:spPr>
      </p:sp>
      <p:sp>
        <p:nvSpPr>
          <p:cNvPr id="30" name="Bottom text"/>
          <p:cNvSpPr txBox="1"/>
          <p:nvPr/>
        </p:nvSpPr>
        <p:spPr>
          <a:xfrm>
            <a:off x="1850000" y="6090000"/>
            <a:ext cx="964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250">
                <a:solidFill>
                  <a:srgbClr val="0D513C"/>
                </a:solidFill>
                <a:latin typeface="Aptos"/>
                <a:cs typeface="Aptos"/>
              </a:defRPr>
            </a:pPr>
            <a:r>
              <a:rPr lang="vi-VN" sz="1250" b="1">
                <a:solidFill>
                  <a:srgbClr val="0D513C"/>
                </a:solidFill>
                <a:latin typeface="Aptos"/>
                <a:cs typeface="Aptos"/>
              </a:rPr>
              <a:t>Nói ngắn gọn: catalog biến dữ liệu hành vi thành lựa chọn sản phẩm có kiểm soát.</a:t>
            </a:r>
          </a:p>
        </p:txBody>
      </p:sp>
      <p:sp>
        <p:nvSpPr>
          <p:cNvPr id="31" name="Footer line"/>
          <p:cNvSpPr/>
          <p:nvPr/>
        </p:nvSpPr>
        <p:spPr>
          <a:xfrm>
            <a:off x="700000" y="7090000"/>
            <a:ext cx="11900000" cy="18000"/>
          </a:xfrm>
          <a:prstGeom prst="rect">
            <a:avLst/>
          </a:prstGeom>
          <a:solidFill>
            <a:srgbClr val="D7D0C4">
              <a:alpha val="70000"/>
            </a:srgbClr>
          </a:solidFill>
          <a:ln>
            <a:noFill/>
          </a:ln>
        </p:spPr>
      </p:sp>
      <p:sp>
        <p:nvSpPr>
          <p:cNvPr id="32" name="Slide number"/>
          <p:cNvSpPr txBox="1"/>
          <p:nvPr/>
        </p:nvSpPr>
        <p:spPr>
          <a:xfrm>
            <a:off x="11760000" y="7140000"/>
            <a:ext cx="8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02/12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20000" y="38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167A57"/>
                </a:solidFill>
                <a:latin typeface="Aptos"/>
                <a:cs typeface="Aptos"/>
              </a:rPr>
              <a:t>BẢN ĐỒ DANH MỤC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00000" y="640000"/>
            <a:ext cx="119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28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2850" b="1">
                <a:solidFill>
                  <a:srgbClr val="1A2620"/>
                </a:solidFill>
                <a:latin typeface="Aptos Display"/>
                <a:cs typeface="Aptos Display"/>
              </a:rPr>
              <a:t>Catalog hiện có gì?</a:t>
            </a:r>
          </a:p>
        </p:txBody>
      </p:sp>
      <p:sp>
        <p:nvSpPr>
          <p:cNvPr id="4" name="Stat headline"/>
          <p:cNvSpPr txBox="1"/>
          <p:nvPr/>
        </p:nvSpPr>
        <p:spPr>
          <a:xfrm>
            <a:off x="780000" y="1200000"/>
            <a:ext cx="4600000" cy="11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5200">
                <a:solidFill>
                  <a:srgbClr val="167A57"/>
                </a:solidFill>
                <a:latin typeface="Aptos Display"/>
                <a:cs typeface="Aptos Display"/>
              </a:defRPr>
            </a:pPr>
            <a:r>
              <a:rPr lang="vi-VN" sz="5200" b="1">
                <a:solidFill>
                  <a:srgbClr val="167A57"/>
                </a:solidFill>
                <a:latin typeface="Aptos Display"/>
                <a:cs typeface="Aptos Display"/>
              </a:rPr>
              <a:t>15</a:t>
            </a:r>
          </a:p>
          <a:p>
            <a:pPr algn="l">
              <a:spcAft>
                <a:spcPts val="0"/>
              </a:spcAft>
              <a:defRPr sz="132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1320">
                <a:solidFill>
                  <a:srgbClr val="69746E"/>
                </a:solidFill>
                <a:latin typeface="Aptos"/>
                <a:cs typeface="Aptos"/>
              </a:rPr>
              <a:t>sản phẩm đang được recommendation sử dụng</a:t>
            </a:r>
          </a:p>
        </p:txBody>
      </p:sp>
      <p:sp>
        <p:nvSpPr>
          <p:cNvPr id="5" name="Big total card"/>
          <p:cNvSpPr/>
          <p:nvPr/>
        </p:nvSpPr>
        <p:spPr>
          <a:xfrm>
            <a:off x="5630000" y="1240000"/>
            <a:ext cx="6920000" cy="49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6" name="Group label 0"/>
          <p:cNvSpPr txBox="1"/>
          <p:nvPr/>
        </p:nvSpPr>
        <p:spPr>
          <a:xfrm>
            <a:off x="6000000" y="1645000"/>
            <a:ext cx="17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1A2620"/>
                </a:solidFill>
                <a:latin typeface="Aptos"/>
                <a:cs typeface="Aptos"/>
              </a:rPr>
              <a:t>Insurance</a:t>
            </a:r>
          </a:p>
        </p:txBody>
      </p:sp>
      <p:sp>
        <p:nvSpPr>
          <p:cNvPr id="7" name="Bar bg 0"/>
          <p:cNvSpPr/>
          <p:nvPr/>
        </p:nvSpPr>
        <p:spPr>
          <a:xfrm>
            <a:off x="7850000" y="1695000"/>
            <a:ext cx="330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8" name="Bar 0"/>
          <p:cNvSpPr/>
          <p:nvPr/>
        </p:nvSpPr>
        <p:spPr>
          <a:xfrm>
            <a:off x="7850000" y="1695000"/>
            <a:ext cx="3180000" cy="130000"/>
          </a:xfrm>
          <a:prstGeom prst="round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9" name="Group count 0"/>
          <p:cNvSpPr txBox="1"/>
          <p:nvPr/>
        </p:nvSpPr>
        <p:spPr>
          <a:xfrm>
            <a:off x="11280000" y="1605000"/>
            <a:ext cx="5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1150" b="1">
                <a:solidFill>
                  <a:srgbClr val="167A57"/>
                </a:solidFill>
                <a:latin typeface="Aptos"/>
                <a:cs typeface="Aptos"/>
              </a:rPr>
              <a:t>4</a:t>
            </a:r>
          </a:p>
        </p:txBody>
      </p:sp>
      <p:sp>
        <p:nvSpPr>
          <p:cNvPr id="10" name="Examples 0"/>
          <p:cNvSpPr txBox="1"/>
          <p:nvPr/>
        </p:nvSpPr>
        <p:spPr>
          <a:xfrm>
            <a:off x="6000000" y="1885000"/>
            <a:ext cx="57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Travel Insurance, Health Insurance</a:t>
            </a:r>
          </a:p>
        </p:txBody>
      </p:sp>
      <p:sp>
        <p:nvSpPr>
          <p:cNvPr id="11" name="Group label 1"/>
          <p:cNvSpPr txBox="1"/>
          <p:nvPr/>
        </p:nvSpPr>
        <p:spPr>
          <a:xfrm>
            <a:off x="6000000" y="2265000"/>
            <a:ext cx="17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1A2620"/>
                </a:solidFill>
                <a:latin typeface="Aptos"/>
                <a:cs typeface="Aptos"/>
              </a:rPr>
              <a:t>Loan</a:t>
            </a:r>
          </a:p>
        </p:txBody>
      </p:sp>
      <p:sp>
        <p:nvSpPr>
          <p:cNvPr id="12" name="Bar bg 1"/>
          <p:cNvSpPr/>
          <p:nvPr/>
        </p:nvSpPr>
        <p:spPr>
          <a:xfrm>
            <a:off x="7850000" y="2315000"/>
            <a:ext cx="330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13" name="Bar 1"/>
          <p:cNvSpPr/>
          <p:nvPr/>
        </p:nvSpPr>
        <p:spPr>
          <a:xfrm>
            <a:off x="7850000" y="2315000"/>
            <a:ext cx="3180000" cy="130000"/>
          </a:xfrm>
          <a:prstGeom prst="round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4" name="Group count 1"/>
          <p:cNvSpPr txBox="1"/>
          <p:nvPr/>
        </p:nvSpPr>
        <p:spPr>
          <a:xfrm>
            <a:off x="11280000" y="2225000"/>
            <a:ext cx="5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2B6777"/>
                </a:solidFill>
                <a:latin typeface="Aptos"/>
                <a:cs typeface="Aptos"/>
              </a:defRPr>
            </a:pPr>
            <a:r>
              <a:rPr lang="vi-VN" sz="1150" b="1">
                <a:solidFill>
                  <a:srgbClr val="2B6777"/>
                </a:solidFill>
                <a:latin typeface="Aptos"/>
                <a:cs typeface="Aptos"/>
              </a:rPr>
              <a:t>4</a:t>
            </a:r>
          </a:p>
        </p:txBody>
      </p:sp>
      <p:sp>
        <p:nvSpPr>
          <p:cNvPr id="15" name="Examples 1"/>
          <p:cNvSpPr txBox="1"/>
          <p:nvPr/>
        </p:nvSpPr>
        <p:spPr>
          <a:xfrm>
            <a:off x="6000000" y="2505000"/>
            <a:ext cx="57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Consumer Loan, Overdraft Loan</a:t>
            </a:r>
          </a:p>
        </p:txBody>
      </p:sp>
      <p:sp>
        <p:nvSpPr>
          <p:cNvPr id="16" name="Group label 2"/>
          <p:cNvSpPr txBox="1"/>
          <p:nvPr/>
        </p:nvSpPr>
        <p:spPr>
          <a:xfrm>
            <a:off x="6000000" y="2885000"/>
            <a:ext cx="17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1A2620"/>
                </a:solidFill>
                <a:latin typeface="Aptos"/>
                <a:cs typeface="Aptos"/>
              </a:rPr>
              <a:t>Credit Card</a:t>
            </a:r>
          </a:p>
        </p:txBody>
      </p:sp>
      <p:sp>
        <p:nvSpPr>
          <p:cNvPr id="17" name="Bar bg 2"/>
          <p:cNvSpPr/>
          <p:nvPr/>
        </p:nvSpPr>
        <p:spPr>
          <a:xfrm>
            <a:off x="7850000" y="2935000"/>
            <a:ext cx="330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18" name="Bar 2"/>
          <p:cNvSpPr/>
          <p:nvPr/>
        </p:nvSpPr>
        <p:spPr>
          <a:xfrm>
            <a:off x="7850000" y="2935000"/>
            <a:ext cx="1590000" cy="130000"/>
          </a:xfrm>
          <a:prstGeom prst="roundRect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19" name="Group count 2"/>
          <p:cNvSpPr txBox="1"/>
          <p:nvPr/>
        </p:nvSpPr>
        <p:spPr>
          <a:xfrm>
            <a:off x="11280000" y="2845000"/>
            <a:ext cx="5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D4922D"/>
                </a:solidFill>
                <a:latin typeface="Aptos"/>
                <a:cs typeface="Aptos"/>
              </a:defRPr>
            </a:pPr>
            <a:r>
              <a:rPr lang="vi-VN" sz="1150" b="1">
                <a:solidFill>
                  <a:srgbClr val="D4922D"/>
                </a:solidFill>
                <a:latin typeface="Aptos"/>
                <a:cs typeface="Aptos"/>
              </a:rPr>
              <a:t>2</a:t>
            </a:r>
          </a:p>
        </p:txBody>
      </p:sp>
      <p:sp>
        <p:nvSpPr>
          <p:cNvPr id="20" name="Examples 2"/>
          <p:cNvSpPr txBox="1"/>
          <p:nvPr/>
        </p:nvSpPr>
        <p:spPr>
          <a:xfrm>
            <a:off x="6000000" y="3125000"/>
            <a:ext cx="57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Cashback Credit Card, Premium Travel Card</a:t>
            </a:r>
          </a:p>
        </p:txBody>
      </p:sp>
      <p:sp>
        <p:nvSpPr>
          <p:cNvPr id="21" name="Group label 3"/>
          <p:cNvSpPr txBox="1"/>
          <p:nvPr/>
        </p:nvSpPr>
        <p:spPr>
          <a:xfrm>
            <a:off x="6000000" y="3505000"/>
            <a:ext cx="17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1A2620"/>
                </a:solidFill>
                <a:latin typeface="Aptos"/>
                <a:cs typeface="Aptos"/>
              </a:rPr>
              <a:t>Saving</a:t>
            </a:r>
          </a:p>
        </p:txBody>
      </p:sp>
      <p:sp>
        <p:nvSpPr>
          <p:cNvPr id="22" name="Bar bg 3"/>
          <p:cNvSpPr/>
          <p:nvPr/>
        </p:nvSpPr>
        <p:spPr>
          <a:xfrm>
            <a:off x="7850000" y="3555000"/>
            <a:ext cx="330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23" name="Bar 3"/>
          <p:cNvSpPr/>
          <p:nvPr/>
        </p:nvSpPr>
        <p:spPr>
          <a:xfrm>
            <a:off x="7850000" y="3555000"/>
            <a:ext cx="1590000" cy="130000"/>
          </a:xfrm>
          <a:prstGeom prst="roundRect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24" name="Group count 3"/>
          <p:cNvSpPr txBox="1"/>
          <p:nvPr/>
        </p:nvSpPr>
        <p:spPr>
          <a:xfrm>
            <a:off x="11280000" y="3465000"/>
            <a:ext cx="5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B74337"/>
                </a:solidFill>
                <a:latin typeface="Aptos"/>
                <a:cs typeface="Aptos"/>
              </a:defRPr>
            </a:pPr>
            <a:r>
              <a:rPr lang="vi-VN" sz="1150" b="1">
                <a:solidFill>
                  <a:srgbClr val="B74337"/>
                </a:solidFill>
                <a:latin typeface="Aptos"/>
                <a:cs typeface="Aptos"/>
              </a:rPr>
              <a:t>2</a:t>
            </a:r>
          </a:p>
        </p:txBody>
      </p:sp>
      <p:sp>
        <p:nvSpPr>
          <p:cNvPr id="25" name="Examples 3"/>
          <p:cNvSpPr txBox="1"/>
          <p:nvPr/>
        </p:nvSpPr>
        <p:spPr>
          <a:xfrm>
            <a:off x="6000000" y="3745000"/>
            <a:ext cx="57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Flexible Savings, Fixed Deposit</a:t>
            </a:r>
          </a:p>
        </p:txBody>
      </p:sp>
      <p:sp>
        <p:nvSpPr>
          <p:cNvPr id="26" name="Group label 4"/>
          <p:cNvSpPr txBox="1"/>
          <p:nvPr/>
        </p:nvSpPr>
        <p:spPr>
          <a:xfrm>
            <a:off x="6000000" y="4125000"/>
            <a:ext cx="17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1A2620"/>
                </a:solidFill>
                <a:latin typeface="Aptos"/>
                <a:cs typeface="Aptos"/>
              </a:rPr>
              <a:t>Investment</a:t>
            </a:r>
          </a:p>
        </p:txBody>
      </p:sp>
      <p:sp>
        <p:nvSpPr>
          <p:cNvPr id="27" name="Bar bg 4"/>
          <p:cNvSpPr/>
          <p:nvPr/>
        </p:nvSpPr>
        <p:spPr>
          <a:xfrm>
            <a:off x="7850000" y="4175000"/>
            <a:ext cx="330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28" name="Bar 4"/>
          <p:cNvSpPr/>
          <p:nvPr/>
        </p:nvSpPr>
        <p:spPr>
          <a:xfrm>
            <a:off x="7850000" y="4175000"/>
            <a:ext cx="795000" cy="130000"/>
          </a:xfrm>
          <a:prstGeom prst="roundRect">
            <a:avLst/>
          </a:prstGeom>
          <a:solidFill>
            <a:srgbClr val="6D8A4E"/>
          </a:solidFill>
          <a:ln>
            <a:noFill/>
          </a:ln>
        </p:spPr>
      </p:sp>
      <p:sp>
        <p:nvSpPr>
          <p:cNvPr id="29" name="Group count 4"/>
          <p:cNvSpPr txBox="1"/>
          <p:nvPr/>
        </p:nvSpPr>
        <p:spPr>
          <a:xfrm>
            <a:off x="11280000" y="4085000"/>
            <a:ext cx="5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6D8A4E"/>
                </a:solidFill>
                <a:latin typeface="Aptos"/>
                <a:cs typeface="Aptos"/>
              </a:defRPr>
            </a:pPr>
            <a:r>
              <a:rPr lang="vi-VN" sz="1150" b="1">
                <a:solidFill>
                  <a:srgbClr val="6D8A4E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30" name="Examples 4"/>
          <p:cNvSpPr txBox="1"/>
          <p:nvPr/>
        </p:nvSpPr>
        <p:spPr>
          <a:xfrm>
            <a:off x="6000000" y="4365000"/>
            <a:ext cx="57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Investment Fund</a:t>
            </a:r>
          </a:p>
        </p:txBody>
      </p:sp>
      <p:sp>
        <p:nvSpPr>
          <p:cNvPr id="31" name="Group label 5"/>
          <p:cNvSpPr txBox="1"/>
          <p:nvPr/>
        </p:nvSpPr>
        <p:spPr>
          <a:xfrm>
            <a:off x="6000000" y="4745000"/>
            <a:ext cx="17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1A2620"/>
                </a:solidFill>
                <a:latin typeface="Aptos"/>
                <a:cs typeface="Aptos"/>
              </a:rPr>
              <a:t>Pension</a:t>
            </a:r>
          </a:p>
        </p:txBody>
      </p:sp>
      <p:sp>
        <p:nvSpPr>
          <p:cNvPr id="32" name="Bar bg 5"/>
          <p:cNvSpPr/>
          <p:nvPr/>
        </p:nvSpPr>
        <p:spPr>
          <a:xfrm>
            <a:off x="7850000" y="4795000"/>
            <a:ext cx="330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33" name="Bar 5"/>
          <p:cNvSpPr/>
          <p:nvPr/>
        </p:nvSpPr>
        <p:spPr>
          <a:xfrm>
            <a:off x="7850000" y="4795000"/>
            <a:ext cx="795000" cy="130000"/>
          </a:xfrm>
          <a:prstGeom prst="roundRect">
            <a:avLst/>
          </a:prstGeom>
          <a:solidFill>
            <a:srgbClr val="8B6B48"/>
          </a:solidFill>
          <a:ln>
            <a:noFill/>
          </a:ln>
        </p:spPr>
      </p:sp>
      <p:sp>
        <p:nvSpPr>
          <p:cNvPr id="34" name="Group count 5"/>
          <p:cNvSpPr txBox="1"/>
          <p:nvPr/>
        </p:nvSpPr>
        <p:spPr>
          <a:xfrm>
            <a:off x="11280000" y="4705000"/>
            <a:ext cx="5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8B6B48"/>
                </a:solidFill>
                <a:latin typeface="Aptos"/>
                <a:cs typeface="Aptos"/>
              </a:defRPr>
            </a:pPr>
            <a:r>
              <a:rPr lang="vi-VN" sz="1150" b="1">
                <a:solidFill>
                  <a:srgbClr val="8B6B48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35" name="Examples 5"/>
          <p:cNvSpPr txBox="1"/>
          <p:nvPr/>
        </p:nvSpPr>
        <p:spPr>
          <a:xfrm>
            <a:off x="6000000" y="4985000"/>
            <a:ext cx="57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Retirement Pension Plan</a:t>
            </a:r>
          </a:p>
        </p:txBody>
      </p:sp>
      <p:sp>
        <p:nvSpPr>
          <p:cNvPr id="36" name="Group label 6"/>
          <p:cNvSpPr txBox="1"/>
          <p:nvPr/>
        </p:nvSpPr>
        <p:spPr>
          <a:xfrm>
            <a:off x="6000000" y="5365000"/>
            <a:ext cx="17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1A2620"/>
                </a:solidFill>
                <a:latin typeface="Aptos"/>
                <a:cs typeface="Aptos"/>
              </a:rPr>
              <a:t>Service</a:t>
            </a:r>
          </a:p>
        </p:txBody>
      </p:sp>
      <p:sp>
        <p:nvSpPr>
          <p:cNvPr id="37" name="Bar bg 6"/>
          <p:cNvSpPr/>
          <p:nvPr/>
        </p:nvSpPr>
        <p:spPr>
          <a:xfrm>
            <a:off x="7850000" y="5415000"/>
            <a:ext cx="330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38" name="Bar 6"/>
          <p:cNvSpPr/>
          <p:nvPr/>
        </p:nvSpPr>
        <p:spPr>
          <a:xfrm>
            <a:off x="7850000" y="5415000"/>
            <a:ext cx="795000" cy="130000"/>
          </a:xfrm>
          <a:prstGeom prst="roundRect">
            <a:avLst/>
          </a:prstGeom>
          <a:solidFill>
            <a:srgbClr val="5E7E72"/>
          </a:solidFill>
          <a:ln>
            <a:noFill/>
          </a:ln>
        </p:spPr>
      </p:sp>
      <p:sp>
        <p:nvSpPr>
          <p:cNvPr id="39" name="Group count 6"/>
          <p:cNvSpPr txBox="1"/>
          <p:nvPr/>
        </p:nvSpPr>
        <p:spPr>
          <a:xfrm>
            <a:off x="11280000" y="5325000"/>
            <a:ext cx="52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5E7E72"/>
                </a:solidFill>
                <a:latin typeface="Aptos"/>
                <a:cs typeface="Aptos"/>
              </a:defRPr>
            </a:pPr>
            <a:r>
              <a:rPr lang="vi-VN" sz="1150" b="1">
                <a:solidFill>
                  <a:srgbClr val="5E7E72"/>
                </a:solidFill>
                <a:latin typeface="Aptos"/>
                <a:cs typeface="Aptos"/>
              </a:rPr>
              <a:t>1</a:t>
            </a:r>
          </a:p>
        </p:txBody>
      </p:sp>
      <p:sp>
        <p:nvSpPr>
          <p:cNvPr id="40" name="Examples 6"/>
          <p:cNvSpPr txBox="1"/>
          <p:nvPr/>
        </p:nvSpPr>
        <p:spPr>
          <a:xfrm>
            <a:off x="6000000" y="5605000"/>
            <a:ext cx="57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Bill Payment Service</a:t>
            </a:r>
          </a:p>
        </p:txBody>
      </p:sp>
      <p:sp>
        <p:nvSpPr>
          <p:cNvPr id="41" name="Insight card"/>
          <p:cNvSpPr/>
          <p:nvPr/>
        </p:nvSpPr>
        <p:spPr>
          <a:xfrm>
            <a:off x="780000" y="3040000"/>
            <a:ext cx="4260000" cy="2260000"/>
          </a:xfrm>
          <a:prstGeom prst="roundRect">
            <a:avLst/>
          </a:prstGeom>
          <a:solidFill>
            <a:srgbClr val="1A2620"/>
          </a:solidFill>
          <a:ln>
            <a:noFill/>
          </a:ln>
        </p:spPr>
      </p:sp>
      <p:sp>
        <p:nvSpPr>
          <p:cNvPr id="42" name="Insight"/>
          <p:cNvSpPr txBox="1"/>
          <p:nvPr/>
        </p:nvSpPr>
        <p:spPr>
          <a:xfrm>
            <a:off x="1080000" y="3410000"/>
            <a:ext cx="3660000" cy="1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00">
                <a:solidFill>
                  <a:srgbClr val="A7D7BF"/>
                </a:solidFill>
                <a:latin typeface="Aptos"/>
                <a:cs typeface="Aptos"/>
              </a:defRPr>
            </a:pPr>
            <a:r>
              <a:rPr lang="vi-VN" sz="1000" b="1">
                <a:solidFill>
                  <a:srgbClr val="A7D7BF"/>
                </a:solidFill>
                <a:latin typeface="Aptos"/>
                <a:cs typeface="Aptos"/>
              </a:rPr>
              <a:t>Nhìn nhanh</a:t>
            </a:r>
          </a:p>
          <a:p>
            <a:pPr algn="l">
              <a:spcAft>
                <a:spcPts val="0"/>
              </a:spcAft>
              <a:defRPr sz="1950">
                <a:solidFill>
                  <a:srgbClr val="FFFFFF"/>
                </a:solidFill>
                <a:latin typeface="Aptos Display"/>
                <a:cs typeface="Aptos Display"/>
              </a:defRPr>
            </a:pPr>
            <a:r>
              <a:rPr lang="vi-VN" sz="1950" b="1">
                <a:solidFill>
                  <a:srgbClr val="FFFFFF"/>
                </a:solidFill>
                <a:latin typeface="Aptos Display"/>
                <a:cs typeface="Aptos Display"/>
              </a:rPr>
              <a:t>Insurance và Loan là hai nhóm lớn nhất.</a:t>
            </a:r>
          </a:p>
          <a:p>
            <a:pPr algn="l">
              <a:spcAft>
                <a:spcPts val="0"/>
              </a:spcAft>
              <a:defRPr sz="1050">
                <a:solidFill>
                  <a:srgbClr val="DDEBE2"/>
                </a:solidFill>
                <a:latin typeface="Aptos"/>
                <a:cs typeface="Aptos"/>
              </a:defRPr>
            </a:pPr>
            <a:r>
              <a:rPr lang="vi-VN" sz="1050">
                <a:solidFill>
                  <a:srgbClr val="DDEBE2"/>
                </a:solidFill>
                <a:latin typeface="Aptos"/>
                <a:cs typeface="Aptos"/>
              </a:rPr>
              <a:t>Đây là nơi guardrail rủi ro cần phát huy rõ nhất.</a:t>
            </a:r>
          </a:p>
        </p:txBody>
      </p:sp>
      <p:sp>
        <p:nvSpPr>
          <p:cNvPr id="43" name="Footer line"/>
          <p:cNvSpPr/>
          <p:nvPr/>
        </p:nvSpPr>
        <p:spPr>
          <a:xfrm>
            <a:off x="700000" y="7090000"/>
            <a:ext cx="11900000" cy="18000"/>
          </a:xfrm>
          <a:prstGeom prst="rect">
            <a:avLst/>
          </a:prstGeom>
          <a:solidFill>
            <a:srgbClr val="D7D0C4">
              <a:alpha val="70000"/>
            </a:srgbClr>
          </a:solidFill>
          <a:ln>
            <a:noFill/>
          </a:ln>
        </p:spPr>
      </p:sp>
      <p:sp>
        <p:nvSpPr>
          <p:cNvPr id="44" name="Slide number"/>
          <p:cNvSpPr txBox="1"/>
          <p:nvPr/>
        </p:nvSpPr>
        <p:spPr>
          <a:xfrm>
            <a:off x="11760000" y="7140000"/>
            <a:ext cx="8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20000" y="38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167A57"/>
                </a:solidFill>
                <a:latin typeface="Aptos"/>
                <a:cs typeface="Aptos"/>
              </a:rPr>
              <a:t>TỪ HÀNH VI ĐẾN QUYẾT ĐỊNH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00000" y="640000"/>
            <a:ext cx="119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28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2850" b="1">
                <a:solidFill>
                  <a:srgbClr val="1A2620"/>
                </a:solidFill>
                <a:latin typeface="Aptos Display"/>
                <a:cs typeface="Aptos Display"/>
              </a:rPr>
              <a:t>Vì sao cần catalog?</a:t>
            </a:r>
          </a:p>
        </p:txBody>
      </p:sp>
      <p:sp>
        <p:nvSpPr>
          <p:cNvPr id="4" name="Caption"/>
          <p:cNvSpPr txBox="1"/>
          <p:nvPr/>
        </p:nvSpPr>
        <p:spPr>
          <a:xfrm>
            <a:off x="770000" y="1210000"/>
            <a:ext cx="107000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37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1370">
                <a:solidFill>
                  <a:srgbClr val="69746E"/>
                </a:solidFill>
                <a:latin typeface="Aptos"/>
                <a:cs typeface="Aptos"/>
              </a:rPr>
              <a:t>Nếu chỉ có hành vi khách hàng, hệ thống chưa biết nên gợi ý gì. Catalog là lớp dịch hành vi thành offer.</a:t>
            </a:r>
          </a:p>
        </p:txBody>
      </p:sp>
      <p:sp>
        <p:nvSpPr>
          <p:cNvPr id="5" name="Behavior 0"/>
          <p:cNvSpPr/>
          <p:nvPr/>
        </p:nvSpPr>
        <p:spPr>
          <a:xfrm>
            <a:off x="850000" y="1980000"/>
            <a:ext cx="3600000" cy="69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6" name="Behavior text 0"/>
          <p:cNvSpPr txBox="1"/>
          <p:nvPr/>
        </p:nvSpPr>
        <p:spPr>
          <a:xfrm>
            <a:off x="1100000" y="2190000"/>
            <a:ext cx="310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250" b="1">
                <a:solidFill>
                  <a:srgbClr val="1A2620"/>
                </a:solidFill>
                <a:latin typeface="Aptos"/>
                <a:cs typeface="Aptos"/>
              </a:rPr>
              <a:t>Mua sắm nhiều</a:t>
            </a:r>
          </a:p>
        </p:txBody>
      </p:sp>
      <p:sp>
        <p:nvSpPr>
          <p:cNvPr id="7" name="Arrow"/>
          <p:cNvSpPr/>
          <p:nvPr/>
        </p:nvSpPr>
        <p:spPr>
          <a:xfrm>
            <a:off x="4720000" y="2190000"/>
            <a:ext cx="1130000" cy="230000"/>
          </a:xfrm>
          <a:prstGeom prst="rightArrow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8" name="Product 0"/>
          <p:cNvSpPr/>
          <p:nvPr/>
        </p:nvSpPr>
        <p:spPr>
          <a:xfrm>
            <a:off x="6140000" y="1980000"/>
            <a:ext cx="4450000" cy="690000"/>
          </a:xfrm>
          <a:prstGeom prst="round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9" name="Product text 0"/>
          <p:cNvSpPr txBox="1"/>
          <p:nvPr/>
        </p:nvSpPr>
        <p:spPr>
          <a:xfrm>
            <a:off x="6410000" y="2185000"/>
            <a:ext cx="39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21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210" b="1">
                <a:solidFill>
                  <a:srgbClr val="FFFFFF"/>
                </a:solidFill>
                <a:latin typeface="Aptos"/>
                <a:cs typeface="Aptos"/>
              </a:rPr>
              <a:t>Cashback Card</a:t>
            </a:r>
          </a:p>
        </p:txBody>
      </p:sp>
      <p:sp>
        <p:nvSpPr>
          <p:cNvPr id="10" name="Rule 0"/>
          <p:cNvSpPr/>
          <p:nvPr/>
        </p:nvSpPr>
        <p:spPr>
          <a:xfrm>
            <a:off x="10970000" y="2105000"/>
            <a:ext cx="640000" cy="4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11" name="Rule text 0"/>
          <p:cNvSpPr txBox="1"/>
          <p:nvPr/>
        </p:nvSpPr>
        <p:spPr>
          <a:xfrm>
            <a:off x="10970000" y="2210000"/>
            <a:ext cx="640000" cy="1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rule</a:t>
            </a:r>
          </a:p>
        </p:txBody>
      </p:sp>
      <p:sp>
        <p:nvSpPr>
          <p:cNvPr id="12" name="Behavior 1"/>
          <p:cNvSpPr/>
          <p:nvPr/>
        </p:nvSpPr>
        <p:spPr>
          <a:xfrm>
            <a:off x="850000" y="3060000"/>
            <a:ext cx="3600000" cy="69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3" name="Behavior text 1"/>
          <p:cNvSpPr txBox="1"/>
          <p:nvPr/>
        </p:nvSpPr>
        <p:spPr>
          <a:xfrm>
            <a:off x="1100000" y="3270000"/>
            <a:ext cx="310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250" b="1">
                <a:solidFill>
                  <a:srgbClr val="1A2620"/>
                </a:solidFill>
                <a:latin typeface="Aptos"/>
                <a:cs typeface="Aptos"/>
              </a:rPr>
              <a:t>Du lịch thường xuyên</a:t>
            </a:r>
          </a:p>
        </p:txBody>
      </p:sp>
      <p:sp>
        <p:nvSpPr>
          <p:cNvPr id="14" name="Arrow"/>
          <p:cNvSpPr/>
          <p:nvPr/>
        </p:nvSpPr>
        <p:spPr>
          <a:xfrm>
            <a:off x="4720000" y="3270000"/>
            <a:ext cx="1130000" cy="230000"/>
          </a:xfrm>
          <a:prstGeom prst="rightArrow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5" name="Product 1"/>
          <p:cNvSpPr/>
          <p:nvPr/>
        </p:nvSpPr>
        <p:spPr>
          <a:xfrm>
            <a:off x="6140000" y="3060000"/>
            <a:ext cx="4450000" cy="690000"/>
          </a:xfrm>
          <a:prstGeom prst="round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6" name="Product text 1"/>
          <p:cNvSpPr txBox="1"/>
          <p:nvPr/>
        </p:nvSpPr>
        <p:spPr>
          <a:xfrm>
            <a:off x="6410000" y="3265000"/>
            <a:ext cx="39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21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210" b="1">
                <a:solidFill>
                  <a:srgbClr val="FFFFFF"/>
                </a:solidFill>
                <a:latin typeface="Aptos"/>
                <a:cs typeface="Aptos"/>
              </a:rPr>
              <a:t>Travel Insurance / Travel Card</a:t>
            </a:r>
          </a:p>
        </p:txBody>
      </p:sp>
      <p:sp>
        <p:nvSpPr>
          <p:cNvPr id="17" name="Rule 1"/>
          <p:cNvSpPr/>
          <p:nvPr/>
        </p:nvSpPr>
        <p:spPr>
          <a:xfrm>
            <a:off x="10970000" y="3185000"/>
            <a:ext cx="640000" cy="4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18" name="Rule text 1"/>
          <p:cNvSpPr txBox="1"/>
          <p:nvPr/>
        </p:nvSpPr>
        <p:spPr>
          <a:xfrm>
            <a:off x="10970000" y="3290000"/>
            <a:ext cx="640000" cy="1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rule</a:t>
            </a:r>
          </a:p>
        </p:txBody>
      </p:sp>
      <p:sp>
        <p:nvSpPr>
          <p:cNvPr id="19" name="Behavior 2"/>
          <p:cNvSpPr/>
          <p:nvPr/>
        </p:nvSpPr>
        <p:spPr>
          <a:xfrm>
            <a:off x="850000" y="4140000"/>
            <a:ext cx="3600000" cy="69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0" name="Behavior text 2"/>
          <p:cNvSpPr txBox="1"/>
          <p:nvPr/>
        </p:nvSpPr>
        <p:spPr>
          <a:xfrm>
            <a:off x="1100000" y="4350000"/>
            <a:ext cx="310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250" b="1">
                <a:solidFill>
                  <a:srgbClr val="1A2620"/>
                </a:solidFill>
                <a:latin typeface="Aptos"/>
                <a:cs typeface="Aptos"/>
              </a:rPr>
              <a:t>Áp lực dòng tiền</a:t>
            </a:r>
          </a:p>
        </p:txBody>
      </p:sp>
      <p:sp>
        <p:nvSpPr>
          <p:cNvPr id="21" name="Arrow"/>
          <p:cNvSpPr/>
          <p:nvPr/>
        </p:nvSpPr>
        <p:spPr>
          <a:xfrm>
            <a:off x="4720000" y="4350000"/>
            <a:ext cx="1130000" cy="230000"/>
          </a:xfrm>
          <a:prstGeom prst="rightArrow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22" name="Product 2"/>
          <p:cNvSpPr/>
          <p:nvPr/>
        </p:nvSpPr>
        <p:spPr>
          <a:xfrm>
            <a:off x="6140000" y="4140000"/>
            <a:ext cx="4450000" cy="690000"/>
          </a:xfrm>
          <a:prstGeom prst="roundRect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23" name="Product text 2"/>
          <p:cNvSpPr txBox="1"/>
          <p:nvPr/>
        </p:nvSpPr>
        <p:spPr>
          <a:xfrm>
            <a:off x="6410000" y="4345000"/>
            <a:ext cx="39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21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210" b="1">
                <a:solidFill>
                  <a:srgbClr val="FFFFFF"/>
                </a:solidFill>
                <a:latin typeface="Aptos"/>
                <a:cs typeface="Aptos"/>
              </a:rPr>
              <a:t>Consumer / Overdraft Loan</a:t>
            </a:r>
          </a:p>
        </p:txBody>
      </p:sp>
      <p:sp>
        <p:nvSpPr>
          <p:cNvPr id="24" name="Rule 2"/>
          <p:cNvSpPr/>
          <p:nvPr/>
        </p:nvSpPr>
        <p:spPr>
          <a:xfrm>
            <a:off x="10970000" y="4265000"/>
            <a:ext cx="640000" cy="4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25" name="Rule text 2"/>
          <p:cNvSpPr txBox="1"/>
          <p:nvPr/>
        </p:nvSpPr>
        <p:spPr>
          <a:xfrm>
            <a:off x="10970000" y="4370000"/>
            <a:ext cx="640000" cy="1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rule</a:t>
            </a:r>
          </a:p>
        </p:txBody>
      </p:sp>
      <p:sp>
        <p:nvSpPr>
          <p:cNvPr id="26" name="Behavior 3"/>
          <p:cNvSpPr/>
          <p:nvPr/>
        </p:nvSpPr>
        <p:spPr>
          <a:xfrm>
            <a:off x="850000" y="5220000"/>
            <a:ext cx="3600000" cy="69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7" name="Behavior text 3"/>
          <p:cNvSpPr txBox="1"/>
          <p:nvPr/>
        </p:nvSpPr>
        <p:spPr>
          <a:xfrm>
            <a:off x="1100000" y="5430000"/>
            <a:ext cx="310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250" b="1">
                <a:solidFill>
                  <a:srgbClr val="1A2620"/>
                </a:solidFill>
                <a:latin typeface="Aptos"/>
                <a:cs typeface="Aptos"/>
              </a:rPr>
              <a:t>Rủi ro cao</a:t>
            </a:r>
          </a:p>
        </p:txBody>
      </p:sp>
      <p:sp>
        <p:nvSpPr>
          <p:cNvPr id="28" name="Arrow"/>
          <p:cNvSpPr/>
          <p:nvPr/>
        </p:nvSpPr>
        <p:spPr>
          <a:xfrm>
            <a:off x="4720000" y="5430000"/>
            <a:ext cx="1130000" cy="230000"/>
          </a:xfrm>
          <a:prstGeom prst="rightArrow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29" name="Product 3"/>
          <p:cNvSpPr/>
          <p:nvPr/>
        </p:nvSpPr>
        <p:spPr>
          <a:xfrm>
            <a:off x="6140000" y="5220000"/>
            <a:ext cx="4450000" cy="690000"/>
          </a:xfrm>
          <a:prstGeom prst="roundRect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30" name="Product text 3"/>
          <p:cNvSpPr txBox="1"/>
          <p:nvPr/>
        </p:nvSpPr>
        <p:spPr>
          <a:xfrm>
            <a:off x="6410000" y="5425000"/>
            <a:ext cx="39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21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210" b="1">
                <a:solidFill>
                  <a:srgbClr val="FFFFFF"/>
                </a:solidFill>
                <a:latin typeface="Aptos"/>
                <a:cs typeface="Aptos"/>
              </a:rPr>
              <a:t>Không gợi ý sản phẩm rủi ro</a:t>
            </a:r>
          </a:p>
        </p:txBody>
      </p:sp>
      <p:sp>
        <p:nvSpPr>
          <p:cNvPr id="31" name="Rule 3"/>
          <p:cNvSpPr/>
          <p:nvPr/>
        </p:nvSpPr>
        <p:spPr>
          <a:xfrm>
            <a:off x="10970000" y="5345000"/>
            <a:ext cx="640000" cy="4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32" name="Rule text 3"/>
          <p:cNvSpPr txBox="1"/>
          <p:nvPr/>
        </p:nvSpPr>
        <p:spPr>
          <a:xfrm>
            <a:off x="10970000" y="5450000"/>
            <a:ext cx="640000" cy="1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rule</a:t>
            </a:r>
          </a:p>
        </p:txBody>
      </p:sp>
      <p:sp>
        <p:nvSpPr>
          <p:cNvPr id="33" name="Main idea"/>
          <p:cNvSpPr/>
          <p:nvPr/>
        </p:nvSpPr>
        <p:spPr>
          <a:xfrm>
            <a:off x="1480000" y="6200000"/>
            <a:ext cx="10360000" cy="450000"/>
          </a:xfrm>
          <a:prstGeom prst="roundRect">
            <a:avLst/>
          </a:prstGeom>
          <a:solidFill>
            <a:srgbClr val="D9EAF0"/>
          </a:solidFill>
          <a:ln>
            <a:noFill/>
          </a:ln>
        </p:spPr>
      </p:sp>
      <p:sp>
        <p:nvSpPr>
          <p:cNvPr id="34" name="Main idea text"/>
          <p:cNvSpPr txBox="1"/>
          <p:nvPr/>
        </p:nvSpPr>
        <p:spPr>
          <a:xfrm>
            <a:off x="1800000" y="6320000"/>
            <a:ext cx="972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80">
                <a:solidFill>
                  <a:srgbClr val="2B6777"/>
                </a:solidFill>
                <a:latin typeface="Aptos"/>
                <a:cs typeface="Aptos"/>
              </a:defRPr>
            </a:pPr>
            <a:r>
              <a:rPr lang="vi-VN" sz="1180" b="1">
                <a:solidFill>
                  <a:srgbClr val="2B6777"/>
                </a:solidFill>
                <a:latin typeface="Aptos"/>
                <a:cs typeface="Aptos"/>
              </a:rPr>
              <a:t>Catalog giúp recommendation có logic kinh doanh, không chỉ có model score.</a:t>
            </a:r>
          </a:p>
        </p:txBody>
      </p:sp>
      <p:sp>
        <p:nvSpPr>
          <p:cNvPr id="35" name="Footer line"/>
          <p:cNvSpPr/>
          <p:nvPr/>
        </p:nvSpPr>
        <p:spPr>
          <a:xfrm>
            <a:off x="700000" y="7090000"/>
            <a:ext cx="11900000" cy="18000"/>
          </a:xfrm>
          <a:prstGeom prst="rect">
            <a:avLst/>
          </a:prstGeom>
          <a:solidFill>
            <a:srgbClr val="D7D0C4">
              <a:alpha val="70000"/>
            </a:srgbClr>
          </a:solidFill>
          <a:ln>
            <a:noFill/>
          </a:ln>
        </p:spPr>
      </p:sp>
      <p:sp>
        <p:nvSpPr>
          <p:cNvPr id="36" name="Slide number"/>
          <p:cNvSpPr txBox="1"/>
          <p:nvPr/>
        </p:nvSpPr>
        <p:spPr>
          <a:xfrm>
            <a:off x="11760000" y="7140000"/>
            <a:ext cx="8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20000" y="38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167A57"/>
                </a:solidFill>
                <a:latin typeface="Aptos"/>
                <a:cs typeface="Aptos"/>
              </a:rPr>
              <a:t>SCHEMA DỄ NHỚ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00000" y="640000"/>
            <a:ext cx="119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28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2850" b="1">
                <a:solidFill>
                  <a:srgbClr val="1A2620"/>
                </a:solidFill>
                <a:latin typeface="Aptos Display"/>
                <a:cs typeface="Aptos Display"/>
              </a:rPr>
              <a:t>Mỗi sản phẩm gồm những gì?</a:t>
            </a:r>
          </a:p>
        </p:txBody>
      </p:sp>
      <p:sp>
        <p:nvSpPr>
          <p:cNvPr id="4" name="Product object"/>
          <p:cNvSpPr/>
          <p:nvPr/>
        </p:nvSpPr>
        <p:spPr>
          <a:xfrm>
            <a:off x="4780000" y="1720000"/>
            <a:ext cx="3760000" cy="3860000"/>
          </a:xfrm>
          <a:prstGeom prst="roundRect">
            <a:avLst/>
          </a:prstGeom>
          <a:solidFill>
            <a:srgbClr val="1A2620"/>
          </a:solidFill>
          <a:ln>
            <a:noFill/>
          </a:ln>
        </p:spPr>
      </p:sp>
      <p:sp>
        <p:nvSpPr>
          <p:cNvPr id="5" name="Object title"/>
          <p:cNvSpPr txBox="1"/>
          <p:nvPr/>
        </p:nvSpPr>
        <p:spPr>
          <a:xfrm>
            <a:off x="5240000" y="2150000"/>
            <a:ext cx="284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900">
                <a:solidFill>
                  <a:srgbClr val="FFFFFF"/>
                </a:solidFill>
                <a:latin typeface="Aptos Display"/>
                <a:cs typeface="Aptos Display"/>
              </a:defRPr>
            </a:pPr>
            <a:r>
              <a:rPr lang="vi-VN" sz="1900" b="1">
                <a:solidFill>
                  <a:srgbClr val="FFFFFF"/>
                </a:solidFill>
                <a:latin typeface="Aptos Display"/>
                <a:cs typeface="Aptos Display"/>
              </a:rPr>
              <a:t>Product record</a:t>
            </a:r>
          </a:p>
        </p:txBody>
      </p:sp>
      <p:sp>
        <p:nvSpPr>
          <p:cNvPr id="6" name="Object body"/>
          <p:cNvSpPr txBox="1"/>
          <p:nvPr/>
        </p:nvSpPr>
        <p:spPr>
          <a:xfrm>
            <a:off x="5210000" y="2850000"/>
            <a:ext cx="2920000" cy="1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250">
                <a:solidFill>
                  <a:srgbClr val="DDEBE2"/>
                </a:solidFill>
                <a:latin typeface="Aptos"/>
                <a:cs typeface="Aptos"/>
              </a:defRPr>
            </a:pPr>
            <a:r>
              <a:rPr lang="vi-VN" sz="1250">
                <a:solidFill>
                  <a:srgbClr val="DDEBE2"/>
                </a:solidFill>
                <a:latin typeface="Aptos"/>
                <a:cs typeface="Aptos"/>
              </a:rPr>
              <a:t>1 sản phẩm = dữ liệu + luật + tín hiệu</a:t>
            </a:r>
          </a:p>
          <a:p>
            <a:pPr algn="ctr">
              <a:spcAft>
                <a:spcPts val="0"/>
              </a:spcAft>
              <a:defRPr sz="1120">
                <a:solidFill>
                  <a:srgbClr val="A7D7BF"/>
                </a:solidFill>
                <a:latin typeface="Aptos"/>
                <a:cs typeface="Aptos"/>
              </a:defRPr>
            </a:pPr>
            <a:r>
              <a:rPr lang="vi-VN" sz="1120">
                <a:solidFill>
                  <a:srgbClr val="A7D7BF"/>
                </a:solidFill>
                <a:latin typeface="Aptos"/>
                <a:cs typeface="Aptos"/>
              </a:rPr>
              <a:t>Dùng để lọc, chấm điểm và giải thích.</a:t>
            </a:r>
          </a:p>
        </p:txBody>
      </p:sp>
      <p:sp>
        <p:nvSpPr>
          <p:cNvPr id="7" name="Field card 0"/>
          <p:cNvSpPr/>
          <p:nvPr/>
        </p:nvSpPr>
        <p:spPr>
          <a:xfrm>
            <a:off x="720000" y="1480000"/>
            <a:ext cx="3530000" cy="7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8" name="Field accent 0"/>
          <p:cNvSpPr/>
          <p:nvPr/>
        </p:nvSpPr>
        <p:spPr>
          <a:xfrm>
            <a:off x="720000" y="1480000"/>
            <a:ext cx="120000" cy="760000"/>
          </a:xfrm>
          <a:prstGeom prst="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9" name="Field name 0"/>
          <p:cNvSpPr txBox="1"/>
          <p:nvPr/>
        </p:nvSpPr>
        <p:spPr>
          <a:xfrm>
            <a:off x="1020000" y="1630000"/>
            <a:ext cx="296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167A57"/>
                </a:solidFill>
                <a:latin typeface="Aptos"/>
                <a:cs typeface="Aptos"/>
              </a:rPr>
              <a:t>product_id</a:t>
            </a:r>
          </a:p>
        </p:txBody>
      </p:sp>
      <p:sp>
        <p:nvSpPr>
          <p:cNvPr id="10" name="Field meaning 0"/>
          <p:cNvSpPr txBox="1"/>
          <p:nvPr/>
        </p:nvSpPr>
        <p:spPr>
          <a:xfrm>
            <a:off x="1020000" y="1900000"/>
            <a:ext cx="29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0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00">
                <a:solidFill>
                  <a:srgbClr val="69746E"/>
                </a:solidFill>
                <a:latin typeface="Aptos"/>
                <a:cs typeface="Aptos"/>
              </a:rPr>
              <a:t>Mã sản phẩm</a:t>
            </a:r>
          </a:p>
        </p:txBody>
      </p:sp>
      <p:sp>
        <p:nvSpPr>
          <p:cNvPr id="11" name="Field card 1"/>
          <p:cNvSpPr/>
          <p:nvPr/>
        </p:nvSpPr>
        <p:spPr>
          <a:xfrm>
            <a:off x="8960000" y="1480000"/>
            <a:ext cx="3530000" cy="7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2" name="Field accent 1"/>
          <p:cNvSpPr/>
          <p:nvPr/>
        </p:nvSpPr>
        <p:spPr>
          <a:xfrm>
            <a:off x="8960000" y="1480000"/>
            <a:ext cx="120000" cy="760000"/>
          </a:xfrm>
          <a:prstGeom prst="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13" name="Field name 1"/>
          <p:cNvSpPr txBox="1"/>
          <p:nvPr/>
        </p:nvSpPr>
        <p:spPr>
          <a:xfrm>
            <a:off x="9260000" y="1630000"/>
            <a:ext cx="296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167A57"/>
                </a:solidFill>
                <a:latin typeface="Aptos"/>
                <a:cs typeface="Aptos"/>
              </a:rPr>
              <a:t>product_name</a:t>
            </a:r>
          </a:p>
        </p:txBody>
      </p:sp>
      <p:sp>
        <p:nvSpPr>
          <p:cNvPr id="14" name="Field meaning 1"/>
          <p:cNvSpPr txBox="1"/>
          <p:nvPr/>
        </p:nvSpPr>
        <p:spPr>
          <a:xfrm>
            <a:off x="9260000" y="1900000"/>
            <a:ext cx="29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0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00">
                <a:solidFill>
                  <a:srgbClr val="69746E"/>
                </a:solidFill>
                <a:latin typeface="Aptos"/>
                <a:cs typeface="Aptos"/>
              </a:rPr>
              <a:t>Tên hiển thị</a:t>
            </a:r>
          </a:p>
        </p:txBody>
      </p:sp>
      <p:sp>
        <p:nvSpPr>
          <p:cNvPr id="15" name="Field card 2"/>
          <p:cNvSpPr/>
          <p:nvPr/>
        </p:nvSpPr>
        <p:spPr>
          <a:xfrm>
            <a:off x="720000" y="2670000"/>
            <a:ext cx="3530000" cy="7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6" name="Field accent 2"/>
          <p:cNvSpPr/>
          <p:nvPr/>
        </p:nvSpPr>
        <p:spPr>
          <a:xfrm>
            <a:off x="720000" y="2670000"/>
            <a:ext cx="120000" cy="760000"/>
          </a:xfrm>
          <a:prstGeom prst="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7" name="Field name 2"/>
          <p:cNvSpPr txBox="1"/>
          <p:nvPr/>
        </p:nvSpPr>
        <p:spPr>
          <a:xfrm>
            <a:off x="1020000" y="2820000"/>
            <a:ext cx="296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2B6777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2B6777"/>
                </a:solidFill>
                <a:latin typeface="Aptos"/>
                <a:cs typeface="Aptos"/>
              </a:rPr>
              <a:t>product_type</a:t>
            </a:r>
          </a:p>
        </p:txBody>
      </p:sp>
      <p:sp>
        <p:nvSpPr>
          <p:cNvPr id="18" name="Field meaning 2"/>
          <p:cNvSpPr txBox="1"/>
          <p:nvPr/>
        </p:nvSpPr>
        <p:spPr>
          <a:xfrm>
            <a:off x="1020000" y="3090000"/>
            <a:ext cx="29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0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00">
                <a:solidFill>
                  <a:srgbClr val="69746E"/>
                </a:solidFill>
                <a:latin typeface="Aptos"/>
                <a:cs typeface="Aptos"/>
              </a:rPr>
              <a:t>Nhóm sản phẩm</a:t>
            </a:r>
          </a:p>
        </p:txBody>
      </p:sp>
      <p:sp>
        <p:nvSpPr>
          <p:cNvPr id="19" name="Field card 3"/>
          <p:cNvSpPr/>
          <p:nvPr/>
        </p:nvSpPr>
        <p:spPr>
          <a:xfrm>
            <a:off x="8960000" y="2670000"/>
            <a:ext cx="3530000" cy="7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0" name="Field accent 3"/>
          <p:cNvSpPr/>
          <p:nvPr/>
        </p:nvSpPr>
        <p:spPr>
          <a:xfrm>
            <a:off x="8960000" y="2670000"/>
            <a:ext cx="120000" cy="760000"/>
          </a:xfrm>
          <a:prstGeom prst="rect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21" name="Field name 3"/>
          <p:cNvSpPr txBox="1"/>
          <p:nvPr/>
        </p:nvSpPr>
        <p:spPr>
          <a:xfrm>
            <a:off x="9260000" y="2820000"/>
            <a:ext cx="296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B74337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B74337"/>
                </a:solidFill>
                <a:latin typeface="Aptos"/>
                <a:cs typeface="Aptos"/>
              </a:rPr>
              <a:t>risk_allowed</a:t>
            </a:r>
          </a:p>
        </p:txBody>
      </p:sp>
      <p:sp>
        <p:nvSpPr>
          <p:cNvPr id="22" name="Field meaning 3"/>
          <p:cNvSpPr txBox="1"/>
          <p:nvPr/>
        </p:nvSpPr>
        <p:spPr>
          <a:xfrm>
            <a:off x="9260000" y="3090000"/>
            <a:ext cx="29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0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00">
                <a:solidFill>
                  <a:srgbClr val="69746E"/>
                </a:solidFill>
                <a:latin typeface="Aptos"/>
                <a:cs typeface="Aptos"/>
              </a:rPr>
              <a:t>Mức rủi ro</a:t>
            </a:r>
          </a:p>
        </p:txBody>
      </p:sp>
      <p:sp>
        <p:nvSpPr>
          <p:cNvPr id="23" name="Field card 4"/>
          <p:cNvSpPr/>
          <p:nvPr/>
        </p:nvSpPr>
        <p:spPr>
          <a:xfrm>
            <a:off x="720000" y="3860000"/>
            <a:ext cx="3530000" cy="7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4" name="Field accent 4"/>
          <p:cNvSpPr/>
          <p:nvPr/>
        </p:nvSpPr>
        <p:spPr>
          <a:xfrm>
            <a:off x="720000" y="3860000"/>
            <a:ext cx="120000" cy="760000"/>
          </a:xfrm>
          <a:prstGeom prst="rect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25" name="Field name 4"/>
          <p:cNvSpPr txBox="1"/>
          <p:nvPr/>
        </p:nvSpPr>
        <p:spPr>
          <a:xfrm>
            <a:off x="1020000" y="4010000"/>
            <a:ext cx="296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D4922D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D4922D"/>
                </a:solidFill>
                <a:latin typeface="Aptos"/>
                <a:cs typeface="Aptos"/>
              </a:rPr>
              <a:t>target_behavior</a:t>
            </a:r>
          </a:p>
        </p:txBody>
      </p:sp>
      <p:sp>
        <p:nvSpPr>
          <p:cNvPr id="26" name="Field meaning 4"/>
          <p:cNvSpPr txBox="1"/>
          <p:nvPr/>
        </p:nvSpPr>
        <p:spPr>
          <a:xfrm>
            <a:off x="1020000" y="4280000"/>
            <a:ext cx="29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0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00">
                <a:solidFill>
                  <a:srgbClr val="69746E"/>
                </a:solidFill>
                <a:latin typeface="Aptos"/>
                <a:cs typeface="Aptos"/>
              </a:rPr>
              <a:t>Hành vi mục tiêu</a:t>
            </a:r>
          </a:p>
        </p:txBody>
      </p:sp>
      <p:sp>
        <p:nvSpPr>
          <p:cNvPr id="27" name="Field card 5"/>
          <p:cNvSpPr/>
          <p:nvPr/>
        </p:nvSpPr>
        <p:spPr>
          <a:xfrm>
            <a:off x="8960000" y="3860000"/>
            <a:ext cx="3530000" cy="7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8" name="Field accent 5"/>
          <p:cNvSpPr/>
          <p:nvPr/>
        </p:nvSpPr>
        <p:spPr>
          <a:xfrm>
            <a:off x="8960000" y="3860000"/>
            <a:ext cx="120000" cy="760000"/>
          </a:xfrm>
          <a:prstGeom prst="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29" name="Field name 5"/>
          <p:cNvSpPr txBox="1"/>
          <p:nvPr/>
        </p:nvSpPr>
        <p:spPr>
          <a:xfrm>
            <a:off x="9260000" y="4010000"/>
            <a:ext cx="296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2B6777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2B6777"/>
                </a:solidFill>
                <a:latin typeface="Aptos"/>
                <a:cs typeface="Aptos"/>
              </a:rPr>
              <a:t>target_signals_json</a:t>
            </a:r>
          </a:p>
        </p:txBody>
      </p:sp>
      <p:sp>
        <p:nvSpPr>
          <p:cNvPr id="30" name="Field meaning 5"/>
          <p:cNvSpPr txBox="1"/>
          <p:nvPr/>
        </p:nvSpPr>
        <p:spPr>
          <a:xfrm>
            <a:off x="9260000" y="4280000"/>
            <a:ext cx="29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0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00">
                <a:solidFill>
                  <a:srgbClr val="69746E"/>
                </a:solidFill>
                <a:latin typeface="Aptos"/>
                <a:cs typeface="Aptos"/>
              </a:rPr>
              <a:t>Feature để chấm điểm</a:t>
            </a:r>
          </a:p>
        </p:txBody>
      </p:sp>
      <p:sp>
        <p:nvSpPr>
          <p:cNvPr id="31" name="Field card 6"/>
          <p:cNvSpPr/>
          <p:nvPr/>
        </p:nvSpPr>
        <p:spPr>
          <a:xfrm>
            <a:off x="720000" y="5050000"/>
            <a:ext cx="3530000" cy="7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32" name="Field accent 6"/>
          <p:cNvSpPr/>
          <p:nvPr/>
        </p:nvSpPr>
        <p:spPr>
          <a:xfrm>
            <a:off x="720000" y="5050000"/>
            <a:ext cx="120000" cy="760000"/>
          </a:xfrm>
          <a:prstGeom prst="rect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33" name="Field name 6"/>
          <p:cNvSpPr txBox="1"/>
          <p:nvPr/>
        </p:nvSpPr>
        <p:spPr>
          <a:xfrm>
            <a:off x="1020000" y="5200000"/>
            <a:ext cx="296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B74337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B74337"/>
                </a:solidFill>
                <a:latin typeface="Aptos"/>
                <a:cs typeface="Aptos"/>
              </a:rPr>
              <a:t>eligibility_json</a:t>
            </a:r>
          </a:p>
        </p:txBody>
      </p:sp>
      <p:sp>
        <p:nvSpPr>
          <p:cNvPr id="34" name="Field meaning 6"/>
          <p:cNvSpPr txBox="1"/>
          <p:nvPr/>
        </p:nvSpPr>
        <p:spPr>
          <a:xfrm>
            <a:off x="1020000" y="5470000"/>
            <a:ext cx="29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0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00">
                <a:solidFill>
                  <a:srgbClr val="69746E"/>
                </a:solidFill>
                <a:latin typeface="Aptos"/>
                <a:cs typeface="Aptos"/>
              </a:rPr>
              <a:t>Điều kiện được phép gợi ý</a:t>
            </a:r>
          </a:p>
        </p:txBody>
      </p:sp>
      <p:sp>
        <p:nvSpPr>
          <p:cNvPr id="35" name="Field card 7"/>
          <p:cNvSpPr/>
          <p:nvPr/>
        </p:nvSpPr>
        <p:spPr>
          <a:xfrm>
            <a:off x="8960000" y="5050000"/>
            <a:ext cx="3530000" cy="76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36" name="Field accent 7"/>
          <p:cNvSpPr/>
          <p:nvPr/>
        </p:nvSpPr>
        <p:spPr>
          <a:xfrm>
            <a:off x="8960000" y="5050000"/>
            <a:ext cx="120000" cy="760000"/>
          </a:xfrm>
          <a:prstGeom prst="rect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37" name="Field name 7"/>
          <p:cNvSpPr txBox="1"/>
          <p:nvPr/>
        </p:nvSpPr>
        <p:spPr>
          <a:xfrm>
            <a:off x="9260000" y="5200000"/>
            <a:ext cx="296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50">
                <a:solidFill>
                  <a:srgbClr val="D4922D"/>
                </a:solidFill>
                <a:latin typeface="Aptos"/>
                <a:cs typeface="Aptos"/>
              </a:defRPr>
            </a:pPr>
            <a:r>
              <a:rPr lang="vi-VN" sz="1050" b="1">
                <a:solidFill>
                  <a:srgbClr val="D4922D"/>
                </a:solidFill>
                <a:latin typeface="Aptos"/>
                <a:cs typeface="Aptos"/>
              </a:rPr>
              <a:t>campaign_priority</a:t>
            </a:r>
          </a:p>
        </p:txBody>
      </p:sp>
      <p:sp>
        <p:nvSpPr>
          <p:cNvPr id="38" name="Field meaning 7"/>
          <p:cNvSpPr txBox="1"/>
          <p:nvPr/>
        </p:nvSpPr>
        <p:spPr>
          <a:xfrm>
            <a:off x="9260000" y="5470000"/>
            <a:ext cx="29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0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00">
                <a:solidFill>
                  <a:srgbClr val="69746E"/>
                </a:solidFill>
                <a:latin typeface="Aptos"/>
                <a:cs typeface="Aptos"/>
              </a:rPr>
              <a:t>Ưu tiên chiến dịch</a:t>
            </a:r>
          </a:p>
        </p:txBody>
      </p:sp>
      <p:sp>
        <p:nvSpPr>
          <p:cNvPr id="39" name="Footer line"/>
          <p:cNvSpPr/>
          <p:nvPr/>
        </p:nvSpPr>
        <p:spPr>
          <a:xfrm>
            <a:off x="700000" y="7090000"/>
            <a:ext cx="11900000" cy="18000"/>
          </a:xfrm>
          <a:prstGeom prst="rect">
            <a:avLst/>
          </a:prstGeom>
          <a:solidFill>
            <a:srgbClr val="D7D0C4">
              <a:alpha val="70000"/>
            </a:srgbClr>
          </a:solidFill>
          <a:ln>
            <a:noFill/>
          </a:ln>
        </p:spPr>
      </p:sp>
      <p:sp>
        <p:nvSpPr>
          <p:cNvPr id="40" name="Slide number"/>
          <p:cNvSpPr txBox="1"/>
          <p:nvPr/>
        </p:nvSpPr>
        <p:spPr>
          <a:xfrm>
            <a:off x="11760000" y="7140000"/>
            <a:ext cx="8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05/12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20000" y="38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167A57"/>
                </a:solidFill>
                <a:latin typeface="Aptos"/>
                <a:cs typeface="Aptos"/>
              </a:rPr>
              <a:t>MỘT OFFER CỤ THỂ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00000" y="640000"/>
            <a:ext cx="119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28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2850" b="1">
                <a:solidFill>
                  <a:srgbClr val="1A2620"/>
                </a:solidFill>
                <a:latin typeface="Aptos Display"/>
                <a:cs typeface="Aptos Display"/>
              </a:rPr>
              <a:t>Ví dụ dễ hiểu: P002 Travel Insurance</a:t>
            </a:r>
          </a:p>
        </p:txBody>
      </p:sp>
      <p:sp>
        <p:nvSpPr>
          <p:cNvPr id="4" name="Main product card"/>
          <p:cNvSpPr/>
          <p:nvPr/>
        </p:nvSpPr>
        <p:spPr>
          <a:xfrm>
            <a:off x="760000" y="1350000"/>
            <a:ext cx="4100000" cy="4990000"/>
          </a:xfrm>
          <a:prstGeom prst="roundRect">
            <a:avLst/>
          </a:prstGeom>
          <a:solidFill>
            <a:srgbClr val="1A2620"/>
          </a:solidFill>
          <a:ln>
            <a:noFill/>
          </a:ln>
        </p:spPr>
      </p:sp>
      <p:sp>
        <p:nvSpPr>
          <p:cNvPr id="5" name="Product title"/>
          <p:cNvSpPr txBox="1"/>
          <p:nvPr/>
        </p:nvSpPr>
        <p:spPr>
          <a:xfrm>
            <a:off x="1080000" y="1760000"/>
            <a:ext cx="3430000" cy="8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120">
                <a:solidFill>
                  <a:srgbClr val="A7D7BF"/>
                </a:solidFill>
                <a:latin typeface="Aptos"/>
                <a:cs typeface="Aptos"/>
              </a:defRPr>
            </a:pPr>
            <a:r>
              <a:rPr lang="vi-VN" sz="1120" b="1">
                <a:solidFill>
                  <a:srgbClr val="A7D7BF"/>
                </a:solidFill>
                <a:latin typeface="Aptos"/>
                <a:cs typeface="Aptos"/>
              </a:rPr>
              <a:t>P002</a:t>
            </a:r>
          </a:p>
          <a:p>
            <a:pPr algn="l">
              <a:spcAft>
                <a:spcPts val="0"/>
              </a:spcAft>
              <a:defRPr sz="2450">
                <a:solidFill>
                  <a:srgbClr val="FFFFFF"/>
                </a:solidFill>
                <a:latin typeface="Aptos Display"/>
                <a:cs typeface="Aptos Display"/>
              </a:defRPr>
            </a:pPr>
            <a:r>
              <a:rPr lang="vi-VN" sz="2450" b="1">
                <a:solidFill>
                  <a:srgbClr val="FFFFFF"/>
                </a:solidFill>
                <a:latin typeface="Aptos Display"/>
                <a:cs typeface="Aptos Display"/>
              </a:rPr>
              <a:t>Travel Insurance</a:t>
            </a:r>
          </a:p>
        </p:txBody>
      </p:sp>
      <p:sp>
        <p:nvSpPr>
          <p:cNvPr id="6" name="Low risk pill"/>
          <p:cNvSpPr/>
          <p:nvPr/>
        </p:nvSpPr>
        <p:spPr>
          <a:xfrm>
            <a:off x="1080000" y="2910000"/>
            <a:ext cx="1500000" cy="430000"/>
          </a:xfrm>
          <a:prstGeom prst="roundRect">
            <a:avLst/>
          </a:prstGeom>
          <a:solidFill>
            <a:srgbClr val="167A57"/>
          </a:solidFill>
          <a:ln>
            <a:noFill/>
          </a:ln>
        </p:spPr>
        <p:txBody>
          <a:bodyPr wrap="square" anchor="mid" lIns="110000" tIns="110000" rIns="110000" bIns="110000"/>
          <a:lstStyle/>
          <a:p>
            <a:pPr algn="ctr">
              <a:spcAft>
                <a:spcPts val="0"/>
              </a:spcAft>
              <a:defRPr sz="9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FFFFFF"/>
                </a:solidFill>
                <a:latin typeface="Aptos"/>
                <a:cs typeface="Aptos"/>
              </a:rPr>
              <a:t>risk: low</a:t>
            </a:r>
          </a:p>
        </p:txBody>
      </p:sp>
      <p:sp>
        <p:nvSpPr>
          <p:cNvPr id="7" name="Product desc"/>
          <p:cNvSpPr txBox="1"/>
          <p:nvPr/>
        </p:nvSpPr>
        <p:spPr>
          <a:xfrm>
            <a:off x="1080000" y="3650000"/>
            <a:ext cx="3350000" cy="11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260">
                <a:solidFill>
                  <a:srgbClr val="F4F0E8"/>
                </a:solidFill>
                <a:latin typeface="Aptos"/>
                <a:cs typeface="Aptos"/>
              </a:defRPr>
            </a:pPr>
            <a:r>
              <a:rPr lang="vi-VN" sz="1260">
                <a:solidFill>
                  <a:srgbClr val="F4F0E8"/>
                </a:solidFill>
                <a:latin typeface="Aptos"/>
                <a:cs typeface="Aptos"/>
              </a:rPr>
              <a:t>Phù hợp khi khách có tín hiệu chi tiêu du lịch gần đây và vẫn nằm trong ngưỡng rủi ro cho phép.</a:t>
            </a:r>
          </a:p>
        </p:txBody>
      </p:sp>
      <p:sp>
        <p:nvSpPr>
          <p:cNvPr id="8" name="Reason"/>
          <p:cNvSpPr txBox="1"/>
          <p:nvPr/>
        </p:nvSpPr>
        <p:spPr>
          <a:xfrm>
            <a:off x="1080000" y="5180000"/>
            <a:ext cx="3350000" cy="4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60">
                <a:solidFill>
                  <a:srgbClr val="DDEBE2"/>
                </a:solidFill>
                <a:latin typeface="Aptos"/>
                <a:cs typeface="Aptos"/>
              </a:defRPr>
            </a:pPr>
            <a:r>
              <a:rPr lang="vi-VN" sz="960">
                <a:solidFill>
                  <a:srgbClr val="DDEBE2"/>
                </a:solidFill>
                <a:latin typeface="Aptos"/>
                <a:cs typeface="Aptos"/>
              </a:rPr>
              <a:t>Customer shows recent travel-related behavior.</a:t>
            </a:r>
          </a:p>
        </p:txBody>
      </p:sp>
      <p:sp>
        <p:nvSpPr>
          <p:cNvPr id="9" name="Signals panel"/>
          <p:cNvSpPr/>
          <p:nvPr/>
        </p:nvSpPr>
        <p:spPr>
          <a:xfrm>
            <a:off x="5360000" y="1360000"/>
            <a:ext cx="3320000" cy="498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0" name="Signals title"/>
          <p:cNvSpPr txBox="1"/>
          <p:nvPr/>
        </p:nvSpPr>
        <p:spPr>
          <a:xfrm>
            <a:off x="5700000" y="1730000"/>
            <a:ext cx="26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4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1450" b="1">
                <a:solidFill>
                  <a:srgbClr val="1A2620"/>
                </a:solidFill>
                <a:latin typeface="Aptos Display"/>
                <a:cs typeface="Aptos Display"/>
              </a:rPr>
              <a:t>Tín hiệu chấm điểm</a:t>
            </a:r>
          </a:p>
        </p:txBody>
      </p:sp>
      <p:sp>
        <p:nvSpPr>
          <p:cNvPr id="11" name="Signal label travel_ratio"/>
          <p:cNvSpPr txBox="1"/>
          <p:nvPr/>
        </p:nvSpPr>
        <p:spPr>
          <a:xfrm>
            <a:off x="5720000" y="2260000"/>
            <a:ext cx="221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8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80">
                <a:solidFill>
                  <a:srgbClr val="69746E"/>
                </a:solidFill>
                <a:latin typeface="Aptos"/>
                <a:cs typeface="Aptos"/>
              </a:rPr>
              <a:t>Travel ratio</a:t>
            </a:r>
          </a:p>
        </p:txBody>
      </p:sp>
      <p:sp>
        <p:nvSpPr>
          <p:cNvPr id="12" name="Signal bg travel_ratio"/>
          <p:cNvSpPr/>
          <p:nvPr/>
        </p:nvSpPr>
        <p:spPr>
          <a:xfrm>
            <a:off x="5720000" y="2540000"/>
            <a:ext cx="186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13" name="Signal bar travel_ratio"/>
          <p:cNvSpPr/>
          <p:nvPr/>
        </p:nvSpPr>
        <p:spPr>
          <a:xfrm>
            <a:off x="5720000" y="2540000"/>
            <a:ext cx="1599999" cy="130000"/>
          </a:xfrm>
          <a:prstGeom prst="round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4" name="Signal weight travel_ratio"/>
          <p:cNvSpPr txBox="1"/>
          <p:nvPr/>
        </p:nvSpPr>
        <p:spPr>
          <a:xfrm>
            <a:off x="7690000" y="249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850" b="1">
                <a:solidFill>
                  <a:srgbClr val="1A2620"/>
                </a:solidFill>
                <a:latin typeface="Aptos"/>
                <a:cs typeface="Aptos"/>
              </a:rPr>
              <a:t>50%</a:t>
            </a:r>
          </a:p>
        </p:txBody>
      </p:sp>
      <p:sp>
        <p:nvSpPr>
          <p:cNvPr id="15" name="Signal label travel_frequency_90d"/>
          <p:cNvSpPr txBox="1"/>
          <p:nvPr/>
        </p:nvSpPr>
        <p:spPr>
          <a:xfrm>
            <a:off x="5720000" y="3020000"/>
            <a:ext cx="221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8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80">
                <a:solidFill>
                  <a:srgbClr val="69746E"/>
                </a:solidFill>
                <a:latin typeface="Aptos"/>
                <a:cs typeface="Aptos"/>
              </a:rPr>
              <a:t>Travel freq. 90d</a:t>
            </a:r>
          </a:p>
        </p:txBody>
      </p:sp>
      <p:sp>
        <p:nvSpPr>
          <p:cNvPr id="16" name="Signal bg travel_frequency_90d"/>
          <p:cNvSpPr/>
          <p:nvPr/>
        </p:nvSpPr>
        <p:spPr>
          <a:xfrm>
            <a:off x="5720000" y="3300000"/>
            <a:ext cx="186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17" name="Signal bar travel_frequency_90d"/>
          <p:cNvSpPr/>
          <p:nvPr/>
        </p:nvSpPr>
        <p:spPr>
          <a:xfrm>
            <a:off x="5720000" y="3300000"/>
            <a:ext cx="959999" cy="130000"/>
          </a:xfrm>
          <a:prstGeom prst="round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8" name="Signal weight travel_frequency_90d"/>
          <p:cNvSpPr txBox="1"/>
          <p:nvPr/>
        </p:nvSpPr>
        <p:spPr>
          <a:xfrm>
            <a:off x="7690000" y="325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850" b="1">
                <a:solidFill>
                  <a:srgbClr val="1A2620"/>
                </a:solidFill>
                <a:latin typeface="Aptos"/>
                <a:cs typeface="Aptos"/>
              </a:rPr>
              <a:t>30%</a:t>
            </a:r>
          </a:p>
        </p:txBody>
      </p:sp>
      <p:sp>
        <p:nvSpPr>
          <p:cNvPr id="19" name="Signal label foreign_txn_proxy"/>
          <p:cNvSpPr txBox="1"/>
          <p:nvPr/>
        </p:nvSpPr>
        <p:spPr>
          <a:xfrm>
            <a:off x="5720000" y="3780000"/>
            <a:ext cx="221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8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80">
                <a:solidFill>
                  <a:srgbClr val="69746E"/>
                </a:solidFill>
                <a:latin typeface="Aptos"/>
                <a:cs typeface="Aptos"/>
              </a:rPr>
              <a:t>Foreign txn</a:t>
            </a:r>
          </a:p>
        </p:txBody>
      </p:sp>
      <p:sp>
        <p:nvSpPr>
          <p:cNvPr id="20" name="Signal bg foreign_txn_proxy"/>
          <p:cNvSpPr/>
          <p:nvPr/>
        </p:nvSpPr>
        <p:spPr>
          <a:xfrm>
            <a:off x="5720000" y="4060000"/>
            <a:ext cx="186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21" name="Signal bar foreign_txn_proxy"/>
          <p:cNvSpPr/>
          <p:nvPr/>
        </p:nvSpPr>
        <p:spPr>
          <a:xfrm>
            <a:off x="5720000" y="4060000"/>
            <a:ext cx="320000" cy="130000"/>
          </a:xfrm>
          <a:prstGeom prst="round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22" name="Signal weight foreign_txn_proxy"/>
          <p:cNvSpPr txBox="1"/>
          <p:nvPr/>
        </p:nvSpPr>
        <p:spPr>
          <a:xfrm>
            <a:off x="7690000" y="401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850" b="1">
                <a:solidFill>
                  <a:srgbClr val="1A2620"/>
                </a:solidFill>
                <a:latin typeface="Aptos"/>
                <a:cs typeface="Aptos"/>
              </a:rPr>
              <a:t>10%</a:t>
            </a:r>
          </a:p>
        </p:txBody>
      </p:sp>
      <p:sp>
        <p:nvSpPr>
          <p:cNvPr id="23" name="Signal label risk_score_inverse"/>
          <p:cNvSpPr txBox="1"/>
          <p:nvPr/>
        </p:nvSpPr>
        <p:spPr>
          <a:xfrm>
            <a:off x="5720000" y="4540000"/>
            <a:ext cx="221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8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80">
                <a:solidFill>
                  <a:srgbClr val="69746E"/>
                </a:solidFill>
                <a:latin typeface="Aptos"/>
                <a:cs typeface="Aptos"/>
              </a:rPr>
              <a:t>Risk inverse</a:t>
            </a:r>
          </a:p>
        </p:txBody>
      </p:sp>
      <p:sp>
        <p:nvSpPr>
          <p:cNvPr id="24" name="Signal bg risk_score_inverse"/>
          <p:cNvSpPr/>
          <p:nvPr/>
        </p:nvSpPr>
        <p:spPr>
          <a:xfrm>
            <a:off x="5720000" y="4820000"/>
            <a:ext cx="1860000" cy="130000"/>
          </a:xfrm>
          <a:prstGeom prst="roundRect">
            <a:avLst/>
          </a:prstGeom>
          <a:solidFill>
            <a:srgbClr val="ECE5D8"/>
          </a:solidFill>
          <a:ln>
            <a:noFill/>
          </a:ln>
        </p:spPr>
      </p:sp>
      <p:sp>
        <p:nvSpPr>
          <p:cNvPr id="25" name="Signal bar risk_score_inverse"/>
          <p:cNvSpPr/>
          <p:nvPr/>
        </p:nvSpPr>
        <p:spPr>
          <a:xfrm>
            <a:off x="5720000" y="4820000"/>
            <a:ext cx="320000" cy="130000"/>
          </a:xfrm>
          <a:prstGeom prst="round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26" name="Signal weight risk_score_inverse"/>
          <p:cNvSpPr txBox="1"/>
          <p:nvPr/>
        </p:nvSpPr>
        <p:spPr>
          <a:xfrm>
            <a:off x="7690000" y="4775000"/>
            <a:ext cx="43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850" b="1">
                <a:solidFill>
                  <a:srgbClr val="1A2620"/>
                </a:solidFill>
                <a:latin typeface="Aptos"/>
                <a:cs typeface="Aptos"/>
              </a:rPr>
              <a:t>10%</a:t>
            </a:r>
          </a:p>
        </p:txBody>
      </p:sp>
      <p:sp>
        <p:nvSpPr>
          <p:cNvPr id="27" name="Eligibility panel"/>
          <p:cNvSpPr/>
          <p:nvPr/>
        </p:nvSpPr>
        <p:spPr>
          <a:xfrm>
            <a:off x="9080000" y="1360000"/>
            <a:ext cx="3460000" cy="498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8" name="Eligibility title"/>
          <p:cNvSpPr txBox="1"/>
          <p:nvPr/>
        </p:nvSpPr>
        <p:spPr>
          <a:xfrm>
            <a:off x="9410000" y="1730000"/>
            <a:ext cx="28400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4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1450" b="1">
                <a:solidFill>
                  <a:srgbClr val="1A2620"/>
                </a:solidFill>
                <a:latin typeface="Aptos Display"/>
                <a:cs typeface="Aptos Display"/>
              </a:rPr>
              <a:t>Điều kiện gợi ý</a:t>
            </a:r>
          </a:p>
        </p:txBody>
      </p:sp>
      <p:sp>
        <p:nvSpPr>
          <p:cNvPr id="29" name="Risk gate mini"/>
          <p:cNvSpPr/>
          <p:nvPr/>
        </p:nvSpPr>
        <p:spPr>
          <a:xfrm>
            <a:off x="9520000" y="2400000"/>
            <a:ext cx="2500000" cy="1220000"/>
          </a:xfrm>
          <a:prstGeom prst="roundRect">
            <a:avLst/>
          </a:prstGeom>
          <a:solidFill>
            <a:srgbClr val="DDEBE2"/>
          </a:solidFill>
          <a:ln>
            <a:noFill/>
          </a:ln>
        </p:spPr>
      </p:sp>
      <p:sp>
        <p:nvSpPr>
          <p:cNvPr id="30" name="Gate mini text"/>
          <p:cNvSpPr txBox="1"/>
          <p:nvPr/>
        </p:nvSpPr>
        <p:spPr>
          <a:xfrm>
            <a:off x="9780000" y="2700000"/>
            <a:ext cx="198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300">
                <a:solidFill>
                  <a:srgbClr val="0D513C"/>
                </a:solidFill>
                <a:latin typeface="Aptos"/>
                <a:cs typeface="Aptos"/>
              </a:defRPr>
            </a:pPr>
            <a:r>
              <a:rPr lang="vi-VN" sz="1300" b="1">
                <a:solidFill>
                  <a:srgbClr val="0D513C"/>
                </a:solidFill>
                <a:latin typeface="Aptos"/>
                <a:cs typeface="Aptos"/>
              </a:rPr>
              <a:t>max risk score ≤ 0.7</a:t>
            </a:r>
          </a:p>
        </p:txBody>
      </p:sp>
      <p:sp>
        <p:nvSpPr>
          <p:cNvPr id="31" name="Eligibility bullets"/>
          <p:cNvSpPr txBox="1"/>
          <p:nvPr/>
        </p:nvSpPr>
        <p:spPr>
          <a:xfrm>
            <a:off x="9500000" y="4050000"/>
            <a:ext cx="272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 marL="260000" indent="-180000">
              <a:spcAft>
                <a:spcPts val="300"/>
              </a:spcAft>
              <a:buChar char="•"/>
              <a:defRPr sz="96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60">
                <a:solidFill>
                  <a:srgbClr val="69746E"/>
                </a:solidFill>
                <a:latin typeface="Aptos"/>
                <a:cs typeface="Aptos"/>
              </a:rPr>
              <a:t>Có chi tiêu du lịch cao</a:t>
            </a:r>
          </a:p>
          <a:p>
            <a:pPr algn="l" marL="260000" indent="-180000">
              <a:spcAft>
                <a:spcPts val="300"/>
              </a:spcAft>
              <a:buChar char="•"/>
              <a:defRPr sz="96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60">
                <a:solidFill>
                  <a:srgbClr val="69746E"/>
                </a:solidFill>
                <a:latin typeface="Aptos"/>
                <a:cs typeface="Aptos"/>
              </a:rPr>
              <a:t>Có giao dịch liên quan du lịch trong 90 ngày</a:t>
            </a:r>
          </a:p>
          <a:p>
            <a:pPr algn="l" marL="260000" indent="-180000">
              <a:spcAft>
                <a:spcPts val="300"/>
              </a:spcAft>
              <a:buChar char="•"/>
              <a:defRPr sz="96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60">
                <a:solidFill>
                  <a:srgbClr val="69746E"/>
                </a:solidFill>
                <a:latin typeface="Aptos"/>
                <a:cs typeface="Aptos"/>
              </a:rPr>
              <a:t>Rủi ro thấp hoặc chỉ review nhẹ</a:t>
            </a:r>
          </a:p>
        </p:txBody>
      </p:sp>
      <p:sp>
        <p:nvSpPr>
          <p:cNvPr id="32" name="Footer line"/>
          <p:cNvSpPr/>
          <p:nvPr/>
        </p:nvSpPr>
        <p:spPr>
          <a:xfrm>
            <a:off x="700000" y="7090000"/>
            <a:ext cx="11900000" cy="18000"/>
          </a:xfrm>
          <a:prstGeom prst="rect">
            <a:avLst/>
          </a:prstGeom>
          <a:solidFill>
            <a:srgbClr val="D7D0C4">
              <a:alpha val="70000"/>
            </a:srgbClr>
          </a:solidFill>
          <a:ln>
            <a:noFill/>
          </a:ln>
        </p:spPr>
      </p:sp>
      <p:sp>
        <p:nvSpPr>
          <p:cNvPr id="33" name="Slide number"/>
          <p:cNvSpPr txBox="1"/>
          <p:nvPr/>
        </p:nvSpPr>
        <p:spPr>
          <a:xfrm>
            <a:off x="11760000" y="7140000"/>
            <a:ext cx="8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06/12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20000" y="38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167A57"/>
                </a:solidFill>
                <a:latin typeface="Aptos"/>
                <a:cs typeface="Aptos"/>
              </a:rPr>
              <a:t>LUỒNG RECOMMENDATION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00000" y="640000"/>
            <a:ext cx="119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28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2850" b="1">
                <a:solidFill>
                  <a:srgbClr val="1A2620"/>
                </a:solidFill>
                <a:latin typeface="Aptos Display"/>
                <a:cs typeface="Aptos Display"/>
              </a:rPr>
              <a:t>Cách hệ thống chọn sản phẩm</a:t>
            </a:r>
          </a:p>
        </p:txBody>
      </p:sp>
      <p:sp>
        <p:nvSpPr>
          <p:cNvPr id="4" name="Step 0"/>
          <p:cNvSpPr/>
          <p:nvPr/>
        </p:nvSpPr>
        <p:spPr>
          <a:xfrm>
            <a:off x="660000" y="2250000"/>
            <a:ext cx="1720000" cy="11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5" name="Step badge 0"/>
          <p:cNvSpPr/>
          <p:nvPr/>
        </p:nvSpPr>
        <p:spPr>
          <a:xfrm>
            <a:off x="850000" y="2420000"/>
            <a:ext cx="410000" cy="320000"/>
          </a:xfrm>
          <a:prstGeom prst="round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6" name="Step number 0"/>
          <p:cNvSpPr txBox="1"/>
          <p:nvPr/>
        </p:nvSpPr>
        <p:spPr>
          <a:xfrm>
            <a:off x="850000" y="2490000"/>
            <a:ext cx="410000" cy="1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7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730" b="1">
                <a:solidFill>
                  <a:srgbClr val="FFFFFF"/>
                </a:solidFill>
                <a:latin typeface="Aptos"/>
                <a:cs typeface="Aptos"/>
              </a:rPr>
              <a:t>01</a:t>
            </a:r>
          </a:p>
        </p:txBody>
      </p:sp>
      <p:sp>
        <p:nvSpPr>
          <p:cNvPr id="7" name="Step title 0"/>
          <p:cNvSpPr txBox="1"/>
          <p:nvPr/>
        </p:nvSpPr>
        <p:spPr>
          <a:xfrm>
            <a:off x="850000" y="2820000"/>
            <a:ext cx="133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10" b="1">
                <a:solidFill>
                  <a:srgbClr val="1A2620"/>
                </a:solidFill>
                <a:latin typeface="Aptos"/>
                <a:cs typeface="Aptos"/>
              </a:rPr>
              <a:t>User features</a:t>
            </a:r>
          </a:p>
        </p:txBody>
      </p:sp>
      <p:sp>
        <p:nvSpPr>
          <p:cNvPr id="8" name="Step body 0"/>
          <p:cNvSpPr txBox="1"/>
          <p:nvPr/>
        </p:nvSpPr>
        <p:spPr>
          <a:xfrm>
            <a:off x="850000" y="3060000"/>
            <a:ext cx="133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69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690">
                <a:solidFill>
                  <a:srgbClr val="69746E"/>
                </a:solidFill>
                <a:latin typeface="Aptos"/>
                <a:cs typeface="Aptos"/>
              </a:rPr>
              <a:t>Hành vi, frequency, amount, category</a:t>
            </a:r>
          </a:p>
        </p:txBody>
      </p:sp>
      <p:sp>
        <p:nvSpPr>
          <p:cNvPr id="9" name="Arrow"/>
          <p:cNvSpPr/>
          <p:nvPr/>
        </p:nvSpPr>
        <p:spPr>
          <a:xfrm>
            <a:off x="2440000" y="2730000"/>
            <a:ext cx="470000" cy="170000"/>
          </a:xfrm>
          <a:prstGeom prst="rightArrow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0" name="Step 1"/>
          <p:cNvSpPr/>
          <p:nvPr/>
        </p:nvSpPr>
        <p:spPr>
          <a:xfrm>
            <a:off x="2730000" y="3420000"/>
            <a:ext cx="1720000" cy="11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1" name="Step badge 1"/>
          <p:cNvSpPr/>
          <p:nvPr/>
        </p:nvSpPr>
        <p:spPr>
          <a:xfrm>
            <a:off x="2920000" y="3590000"/>
            <a:ext cx="410000" cy="320000"/>
          </a:xfrm>
          <a:prstGeom prst="roundRect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12" name="Step number 1"/>
          <p:cNvSpPr txBox="1"/>
          <p:nvPr/>
        </p:nvSpPr>
        <p:spPr>
          <a:xfrm>
            <a:off x="2920000" y="3660000"/>
            <a:ext cx="410000" cy="1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7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730" b="1">
                <a:solidFill>
                  <a:srgbClr val="FFFFFF"/>
                </a:solidFill>
                <a:latin typeface="Aptos"/>
                <a:cs typeface="Aptos"/>
              </a:rPr>
              <a:t>02</a:t>
            </a:r>
          </a:p>
        </p:txBody>
      </p:sp>
      <p:sp>
        <p:nvSpPr>
          <p:cNvPr id="13" name="Step title 1"/>
          <p:cNvSpPr txBox="1"/>
          <p:nvPr/>
        </p:nvSpPr>
        <p:spPr>
          <a:xfrm>
            <a:off x="2920000" y="3990000"/>
            <a:ext cx="133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10" b="1">
                <a:solidFill>
                  <a:srgbClr val="1A2620"/>
                </a:solidFill>
                <a:latin typeface="Aptos"/>
                <a:cs typeface="Aptos"/>
              </a:rPr>
              <a:t>Risk gate</a:t>
            </a:r>
          </a:p>
        </p:txBody>
      </p:sp>
      <p:sp>
        <p:nvSpPr>
          <p:cNvPr id="14" name="Step body 1"/>
          <p:cNvSpPr txBox="1"/>
          <p:nvPr/>
        </p:nvSpPr>
        <p:spPr>
          <a:xfrm>
            <a:off x="2920000" y="4230000"/>
            <a:ext cx="133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69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690">
                <a:solidFill>
                  <a:srgbClr val="69746E"/>
                </a:solidFill>
                <a:latin typeface="Aptos"/>
                <a:cs typeface="Aptos"/>
              </a:rPr>
              <a:t>Chặn fraud/risk trước</a:t>
            </a:r>
          </a:p>
        </p:txBody>
      </p:sp>
      <p:sp>
        <p:nvSpPr>
          <p:cNvPr id="15" name="Arrow"/>
          <p:cNvSpPr/>
          <p:nvPr/>
        </p:nvSpPr>
        <p:spPr>
          <a:xfrm>
            <a:off x="4510000" y="3900000"/>
            <a:ext cx="470000" cy="170000"/>
          </a:xfrm>
          <a:prstGeom prst="rightArrow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16" name="Step 2"/>
          <p:cNvSpPr/>
          <p:nvPr/>
        </p:nvSpPr>
        <p:spPr>
          <a:xfrm>
            <a:off x="4800000" y="2250000"/>
            <a:ext cx="1720000" cy="11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7" name="Step badge 2"/>
          <p:cNvSpPr/>
          <p:nvPr/>
        </p:nvSpPr>
        <p:spPr>
          <a:xfrm>
            <a:off x="4990000" y="2420000"/>
            <a:ext cx="410000" cy="320000"/>
          </a:xfrm>
          <a:prstGeom prst="roundRect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18" name="Step number 2"/>
          <p:cNvSpPr txBox="1"/>
          <p:nvPr/>
        </p:nvSpPr>
        <p:spPr>
          <a:xfrm>
            <a:off x="4990000" y="2490000"/>
            <a:ext cx="410000" cy="1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7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730" b="1">
                <a:solidFill>
                  <a:srgbClr val="FFFFFF"/>
                </a:solidFill>
                <a:latin typeface="Aptos"/>
                <a:cs typeface="Aptos"/>
              </a:rPr>
              <a:t>03</a:t>
            </a:r>
          </a:p>
        </p:txBody>
      </p:sp>
      <p:sp>
        <p:nvSpPr>
          <p:cNvPr id="19" name="Step title 2"/>
          <p:cNvSpPr txBox="1"/>
          <p:nvPr/>
        </p:nvSpPr>
        <p:spPr>
          <a:xfrm>
            <a:off x="4990000" y="2820000"/>
            <a:ext cx="133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10" b="1">
                <a:solidFill>
                  <a:srgbClr val="1A2620"/>
                </a:solidFill>
                <a:latin typeface="Aptos"/>
                <a:cs typeface="Aptos"/>
              </a:rPr>
              <a:t>Eligibility</a:t>
            </a:r>
          </a:p>
        </p:txBody>
      </p:sp>
      <p:sp>
        <p:nvSpPr>
          <p:cNvPr id="20" name="Step body 2"/>
          <p:cNvSpPr txBox="1"/>
          <p:nvPr/>
        </p:nvSpPr>
        <p:spPr>
          <a:xfrm>
            <a:off x="4990000" y="3060000"/>
            <a:ext cx="133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69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690">
                <a:solidFill>
                  <a:srgbClr val="69746E"/>
                </a:solidFill>
                <a:latin typeface="Aptos"/>
                <a:cs typeface="Aptos"/>
              </a:rPr>
              <a:t>Loại offer không đủ điều kiện</a:t>
            </a:r>
          </a:p>
        </p:txBody>
      </p:sp>
      <p:sp>
        <p:nvSpPr>
          <p:cNvPr id="21" name="Arrow"/>
          <p:cNvSpPr/>
          <p:nvPr/>
        </p:nvSpPr>
        <p:spPr>
          <a:xfrm>
            <a:off x="6580000" y="2730000"/>
            <a:ext cx="470000" cy="170000"/>
          </a:xfrm>
          <a:prstGeom prst="rightArrow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22" name="Step 3"/>
          <p:cNvSpPr/>
          <p:nvPr/>
        </p:nvSpPr>
        <p:spPr>
          <a:xfrm>
            <a:off x="6870000" y="3420000"/>
            <a:ext cx="1720000" cy="11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3" name="Step badge 3"/>
          <p:cNvSpPr/>
          <p:nvPr/>
        </p:nvSpPr>
        <p:spPr>
          <a:xfrm>
            <a:off x="7060000" y="3590000"/>
            <a:ext cx="410000" cy="320000"/>
          </a:xfrm>
          <a:prstGeom prst="round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24" name="Step number 3"/>
          <p:cNvSpPr txBox="1"/>
          <p:nvPr/>
        </p:nvSpPr>
        <p:spPr>
          <a:xfrm>
            <a:off x="7060000" y="3660000"/>
            <a:ext cx="410000" cy="1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7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730" b="1">
                <a:solidFill>
                  <a:srgbClr val="FFFFFF"/>
                </a:solidFill>
                <a:latin typeface="Aptos"/>
                <a:cs typeface="Aptos"/>
              </a:rPr>
              <a:t>04</a:t>
            </a:r>
          </a:p>
        </p:txBody>
      </p:sp>
      <p:sp>
        <p:nvSpPr>
          <p:cNvPr id="25" name="Step title 3"/>
          <p:cNvSpPr txBox="1"/>
          <p:nvPr/>
        </p:nvSpPr>
        <p:spPr>
          <a:xfrm>
            <a:off x="7060000" y="3990000"/>
            <a:ext cx="133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10" b="1">
                <a:solidFill>
                  <a:srgbClr val="1A2620"/>
                </a:solidFill>
                <a:latin typeface="Aptos"/>
                <a:cs typeface="Aptos"/>
              </a:rPr>
              <a:t>Scoring</a:t>
            </a:r>
          </a:p>
        </p:txBody>
      </p:sp>
      <p:sp>
        <p:nvSpPr>
          <p:cNvPr id="26" name="Step body 3"/>
          <p:cNvSpPr txBox="1"/>
          <p:nvPr/>
        </p:nvSpPr>
        <p:spPr>
          <a:xfrm>
            <a:off x="7060000" y="4230000"/>
            <a:ext cx="133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69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690">
                <a:solidFill>
                  <a:srgbClr val="69746E"/>
                </a:solidFill>
                <a:latin typeface="Aptos"/>
                <a:cs typeface="Aptos"/>
              </a:rPr>
              <a:t>Tính điểm từng sản phẩm</a:t>
            </a:r>
          </a:p>
        </p:txBody>
      </p:sp>
      <p:sp>
        <p:nvSpPr>
          <p:cNvPr id="27" name="Arrow"/>
          <p:cNvSpPr/>
          <p:nvPr/>
        </p:nvSpPr>
        <p:spPr>
          <a:xfrm>
            <a:off x="8650000" y="3900000"/>
            <a:ext cx="470000" cy="170000"/>
          </a:xfrm>
          <a:prstGeom prst="rightArrow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28" name="Step 4"/>
          <p:cNvSpPr/>
          <p:nvPr/>
        </p:nvSpPr>
        <p:spPr>
          <a:xfrm>
            <a:off x="8940000" y="2250000"/>
            <a:ext cx="1720000" cy="11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9" name="Step badge 4"/>
          <p:cNvSpPr/>
          <p:nvPr/>
        </p:nvSpPr>
        <p:spPr>
          <a:xfrm>
            <a:off x="9130000" y="2420000"/>
            <a:ext cx="410000" cy="320000"/>
          </a:xfrm>
          <a:prstGeom prst="round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30" name="Step number 4"/>
          <p:cNvSpPr txBox="1"/>
          <p:nvPr/>
        </p:nvSpPr>
        <p:spPr>
          <a:xfrm>
            <a:off x="9130000" y="2490000"/>
            <a:ext cx="410000" cy="1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7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730" b="1">
                <a:solidFill>
                  <a:srgbClr val="FFFFFF"/>
                </a:solidFill>
                <a:latin typeface="Aptos"/>
                <a:cs typeface="Aptos"/>
              </a:rPr>
              <a:t>05</a:t>
            </a:r>
          </a:p>
        </p:txBody>
      </p:sp>
      <p:sp>
        <p:nvSpPr>
          <p:cNvPr id="31" name="Step title 4"/>
          <p:cNvSpPr txBox="1"/>
          <p:nvPr/>
        </p:nvSpPr>
        <p:spPr>
          <a:xfrm>
            <a:off x="9130000" y="2820000"/>
            <a:ext cx="133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10" b="1">
                <a:solidFill>
                  <a:srgbClr val="1A2620"/>
                </a:solidFill>
                <a:latin typeface="Aptos"/>
                <a:cs typeface="Aptos"/>
              </a:rPr>
              <a:t>Ranking</a:t>
            </a:r>
          </a:p>
        </p:txBody>
      </p:sp>
      <p:sp>
        <p:nvSpPr>
          <p:cNvPr id="32" name="Step body 4"/>
          <p:cNvSpPr txBox="1"/>
          <p:nvPr/>
        </p:nvSpPr>
        <p:spPr>
          <a:xfrm>
            <a:off x="9130000" y="3060000"/>
            <a:ext cx="133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69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690">
                <a:solidFill>
                  <a:srgbClr val="69746E"/>
                </a:solidFill>
                <a:latin typeface="Aptos"/>
                <a:cs typeface="Aptos"/>
              </a:rPr>
              <a:t>Sắp xếp theo điểm</a:t>
            </a:r>
          </a:p>
        </p:txBody>
      </p:sp>
      <p:sp>
        <p:nvSpPr>
          <p:cNvPr id="33" name="Arrow"/>
          <p:cNvSpPr/>
          <p:nvPr/>
        </p:nvSpPr>
        <p:spPr>
          <a:xfrm>
            <a:off x="10720000" y="2730000"/>
            <a:ext cx="470000" cy="170000"/>
          </a:xfrm>
          <a:prstGeom prst="rightArrow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34" name="Step 5"/>
          <p:cNvSpPr/>
          <p:nvPr/>
        </p:nvSpPr>
        <p:spPr>
          <a:xfrm>
            <a:off x="11010000" y="3420000"/>
            <a:ext cx="1720000" cy="112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35" name="Step badge 5"/>
          <p:cNvSpPr/>
          <p:nvPr/>
        </p:nvSpPr>
        <p:spPr>
          <a:xfrm>
            <a:off x="11200000" y="3590000"/>
            <a:ext cx="410000" cy="320000"/>
          </a:xfrm>
          <a:prstGeom prst="roundRect">
            <a:avLst/>
          </a:prstGeom>
          <a:solidFill>
            <a:srgbClr val="1A2620"/>
          </a:solidFill>
          <a:ln>
            <a:noFill/>
          </a:ln>
        </p:spPr>
      </p:sp>
      <p:sp>
        <p:nvSpPr>
          <p:cNvPr id="36" name="Step number 5"/>
          <p:cNvSpPr txBox="1"/>
          <p:nvPr/>
        </p:nvSpPr>
        <p:spPr>
          <a:xfrm>
            <a:off x="11200000" y="3660000"/>
            <a:ext cx="410000" cy="1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7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730" b="1">
                <a:solidFill>
                  <a:srgbClr val="FFFFFF"/>
                </a:solidFill>
                <a:latin typeface="Aptos"/>
                <a:cs typeface="Aptos"/>
              </a:rPr>
              <a:t>06</a:t>
            </a:r>
          </a:p>
        </p:txBody>
      </p:sp>
      <p:sp>
        <p:nvSpPr>
          <p:cNvPr id="37" name="Step title 5"/>
          <p:cNvSpPr txBox="1"/>
          <p:nvPr/>
        </p:nvSpPr>
        <p:spPr>
          <a:xfrm>
            <a:off x="11200000" y="3990000"/>
            <a:ext cx="133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0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010" b="1">
                <a:solidFill>
                  <a:srgbClr val="1A2620"/>
                </a:solidFill>
                <a:latin typeface="Aptos"/>
                <a:cs typeface="Aptos"/>
              </a:rPr>
              <a:t>Top 3</a:t>
            </a:r>
          </a:p>
        </p:txBody>
      </p:sp>
      <p:sp>
        <p:nvSpPr>
          <p:cNvPr id="38" name="Step body 5"/>
          <p:cNvSpPr txBox="1"/>
          <p:nvPr/>
        </p:nvSpPr>
        <p:spPr>
          <a:xfrm>
            <a:off x="11200000" y="4230000"/>
            <a:ext cx="133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69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690">
                <a:solidFill>
                  <a:srgbClr val="69746E"/>
                </a:solidFill>
                <a:latin typeface="Aptos"/>
                <a:cs typeface="Aptos"/>
              </a:rPr>
              <a:t>Trả về gợi ý tốt nhất</a:t>
            </a:r>
          </a:p>
        </p:txBody>
      </p:sp>
      <p:sp>
        <p:nvSpPr>
          <p:cNvPr id="39" name="Bottom insight"/>
          <p:cNvSpPr/>
          <p:nvPr/>
        </p:nvSpPr>
        <p:spPr>
          <a:xfrm>
            <a:off x="1360000" y="5820000"/>
            <a:ext cx="10620000" cy="560000"/>
          </a:xfrm>
          <a:prstGeom prst="roundRect">
            <a:avLst/>
          </a:prstGeom>
          <a:solidFill>
            <a:srgbClr val="1A2620"/>
          </a:solidFill>
          <a:ln>
            <a:noFill/>
          </a:ln>
        </p:spPr>
      </p:sp>
      <p:sp>
        <p:nvSpPr>
          <p:cNvPr id="40" name="Bottom insight text"/>
          <p:cNvSpPr txBox="1"/>
          <p:nvPr/>
        </p:nvSpPr>
        <p:spPr>
          <a:xfrm>
            <a:off x="1720000" y="6000000"/>
            <a:ext cx="99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5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150" b="1">
                <a:solidFill>
                  <a:srgbClr val="FFFFFF"/>
                </a:solidFill>
                <a:latin typeface="Aptos"/>
                <a:cs typeface="Aptos"/>
              </a:rPr>
              <a:t>Kết quả là chấm điểm từng khách hàng với từng sản phẩm, không gán cứng “một cụm = một sản phẩm”.</a:t>
            </a:r>
          </a:p>
        </p:txBody>
      </p:sp>
      <p:sp>
        <p:nvSpPr>
          <p:cNvPr id="41" name="Footer line"/>
          <p:cNvSpPr/>
          <p:nvPr/>
        </p:nvSpPr>
        <p:spPr>
          <a:xfrm>
            <a:off x="700000" y="7090000"/>
            <a:ext cx="11900000" cy="18000"/>
          </a:xfrm>
          <a:prstGeom prst="rect">
            <a:avLst/>
          </a:prstGeom>
          <a:solidFill>
            <a:srgbClr val="D7D0C4">
              <a:alpha val="70000"/>
            </a:srgbClr>
          </a:solidFill>
          <a:ln>
            <a:noFill/>
          </a:ln>
        </p:spPr>
      </p:sp>
      <p:sp>
        <p:nvSpPr>
          <p:cNvPr id="42" name="Slide number"/>
          <p:cNvSpPr txBox="1"/>
          <p:nvPr/>
        </p:nvSpPr>
        <p:spPr>
          <a:xfrm>
            <a:off x="11760000" y="7140000"/>
            <a:ext cx="8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07/12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20000" y="38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167A57"/>
                </a:solidFill>
                <a:latin typeface="Aptos"/>
                <a:cs typeface="Aptos"/>
              </a:rPr>
              <a:t>5 THÀNH PHẦN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00000" y="640000"/>
            <a:ext cx="119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28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2850" b="1">
                <a:solidFill>
                  <a:srgbClr val="1A2620"/>
                </a:solidFill>
                <a:latin typeface="Aptos Display"/>
                <a:cs typeface="Aptos Display"/>
              </a:rPr>
              <a:t>Công thức điểm gợi ý</a:t>
            </a:r>
          </a:p>
        </p:txBody>
      </p:sp>
      <p:sp>
        <p:nvSpPr>
          <p:cNvPr id="4" name="Center circle"/>
          <p:cNvSpPr/>
          <p:nvPr/>
        </p:nvSpPr>
        <p:spPr>
          <a:xfrm>
            <a:off x="5155000" y="2290000"/>
            <a:ext cx="3050000" cy="3050000"/>
          </a:xfrm>
          <a:prstGeom prst="ellipse">
            <a:avLst/>
          </a:prstGeom>
          <a:solidFill>
            <a:srgbClr val="1A2620"/>
          </a:solidFill>
          <a:ln>
            <a:noFill/>
          </a:ln>
        </p:spPr>
      </p:sp>
      <p:sp>
        <p:nvSpPr>
          <p:cNvPr id="5" name="Center text"/>
          <p:cNvSpPr txBox="1"/>
          <p:nvPr/>
        </p:nvSpPr>
        <p:spPr>
          <a:xfrm>
            <a:off x="5580000" y="3090000"/>
            <a:ext cx="2200000" cy="9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80">
                <a:solidFill>
                  <a:srgbClr val="A7D7BF"/>
                </a:solidFill>
                <a:latin typeface="Aptos"/>
                <a:cs typeface="Aptos"/>
              </a:defRPr>
            </a:pPr>
            <a:r>
              <a:rPr lang="vi-VN" sz="1180" b="1">
                <a:solidFill>
                  <a:srgbClr val="A7D7BF"/>
                </a:solidFill>
                <a:latin typeface="Aptos"/>
                <a:cs typeface="Aptos"/>
              </a:rPr>
              <a:t>Product score</a:t>
            </a:r>
          </a:p>
          <a:p>
            <a:pPr algn="ctr">
              <a:spcAft>
                <a:spcPts val="0"/>
              </a:spcAft>
              <a:defRPr sz="1900">
                <a:solidFill>
                  <a:srgbClr val="FFFFFF"/>
                </a:solidFill>
                <a:latin typeface="Aptos Display"/>
                <a:cs typeface="Aptos Display"/>
              </a:defRPr>
            </a:pPr>
            <a:r>
              <a:rPr lang="vi-VN" sz="1900" b="1">
                <a:solidFill>
                  <a:srgbClr val="FFFFFF"/>
                </a:solidFill>
                <a:latin typeface="Aptos Display"/>
                <a:cs typeface="Aptos Display"/>
              </a:rPr>
              <a:t>Fit × Risk × Timing</a:t>
            </a:r>
          </a:p>
        </p:txBody>
      </p:sp>
      <p:sp>
        <p:nvSpPr>
          <p:cNvPr id="6" name="Component 0"/>
          <p:cNvSpPr/>
          <p:nvPr/>
        </p:nvSpPr>
        <p:spPr>
          <a:xfrm>
            <a:off x="1040000" y="1620000"/>
            <a:ext cx="2440000" cy="9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7" name="Component dot 0"/>
          <p:cNvSpPr/>
          <p:nvPr/>
        </p:nvSpPr>
        <p:spPr>
          <a:xfrm>
            <a:off x="1260000" y="1840000"/>
            <a:ext cx="210000" cy="210000"/>
          </a:xfrm>
          <a:prstGeom prst="ellipse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8" name="Component title 0"/>
          <p:cNvSpPr txBox="1"/>
          <p:nvPr/>
        </p:nvSpPr>
        <p:spPr>
          <a:xfrm>
            <a:off x="1600000" y="1820000"/>
            <a:ext cx="168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6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960" b="1">
                <a:solidFill>
                  <a:srgbClr val="1A2620"/>
                </a:solidFill>
                <a:latin typeface="Aptos"/>
                <a:cs typeface="Aptos"/>
              </a:rPr>
              <a:t>Behavior match</a:t>
            </a:r>
          </a:p>
        </p:txBody>
      </p:sp>
      <p:sp>
        <p:nvSpPr>
          <p:cNvPr id="9" name="Component body 0"/>
          <p:cNvSpPr txBox="1"/>
          <p:nvPr/>
        </p:nvSpPr>
        <p:spPr>
          <a:xfrm>
            <a:off x="1600000" y="2090000"/>
            <a:ext cx="16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76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760">
                <a:solidFill>
                  <a:srgbClr val="69746E"/>
                </a:solidFill>
                <a:latin typeface="Aptos"/>
                <a:cs typeface="Aptos"/>
              </a:rPr>
              <a:t>Khớp hành vi khách</a:t>
            </a:r>
          </a:p>
        </p:txBody>
      </p:sp>
      <p:sp>
        <p:nvSpPr>
          <p:cNvPr id="10" name="Line"/>
          <p:cNvSpPr/>
          <p:nvPr/>
        </p:nvSpPr>
        <p:spPr>
          <a:xfrm>
            <a:off x="2260000" y="3770000"/>
            <a:ext cx="18000" cy="430000"/>
          </a:xfrm>
          <a:prstGeom prst="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11" name="Component 1"/>
          <p:cNvSpPr/>
          <p:nvPr/>
        </p:nvSpPr>
        <p:spPr>
          <a:xfrm>
            <a:off x="4960000" y="1070000"/>
            <a:ext cx="2440000" cy="9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2" name="Component dot 1"/>
          <p:cNvSpPr/>
          <p:nvPr/>
        </p:nvSpPr>
        <p:spPr>
          <a:xfrm>
            <a:off x="5180000" y="1290000"/>
            <a:ext cx="210000" cy="210000"/>
          </a:xfrm>
          <a:prstGeom prst="ellipse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3" name="Component title 1"/>
          <p:cNvSpPr txBox="1"/>
          <p:nvPr/>
        </p:nvSpPr>
        <p:spPr>
          <a:xfrm>
            <a:off x="5520000" y="1270000"/>
            <a:ext cx="168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6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960" b="1">
                <a:solidFill>
                  <a:srgbClr val="1A2620"/>
                </a:solidFill>
                <a:latin typeface="Aptos"/>
                <a:cs typeface="Aptos"/>
              </a:rPr>
              <a:t>Segment affinity</a:t>
            </a:r>
          </a:p>
        </p:txBody>
      </p:sp>
      <p:sp>
        <p:nvSpPr>
          <p:cNvPr id="14" name="Component body 1"/>
          <p:cNvSpPr txBox="1"/>
          <p:nvPr/>
        </p:nvSpPr>
        <p:spPr>
          <a:xfrm>
            <a:off x="5520000" y="1540000"/>
            <a:ext cx="16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76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760">
                <a:solidFill>
                  <a:srgbClr val="69746E"/>
                </a:solidFill>
                <a:latin typeface="Aptos"/>
                <a:cs typeface="Aptos"/>
              </a:rPr>
              <a:t>Cụm khách hàng phù hợp</a:t>
            </a:r>
          </a:p>
        </p:txBody>
      </p:sp>
      <p:sp>
        <p:nvSpPr>
          <p:cNvPr id="15" name="Line"/>
          <p:cNvSpPr/>
          <p:nvPr/>
        </p:nvSpPr>
        <p:spPr>
          <a:xfrm>
            <a:off x="6180000" y="3770000"/>
            <a:ext cx="18000" cy="430000"/>
          </a:xfrm>
          <a:prstGeom prst="rect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6" name="Component 2"/>
          <p:cNvSpPr/>
          <p:nvPr/>
        </p:nvSpPr>
        <p:spPr>
          <a:xfrm>
            <a:off x="8940000" y="1620000"/>
            <a:ext cx="2440000" cy="9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7" name="Component dot 2"/>
          <p:cNvSpPr/>
          <p:nvPr/>
        </p:nvSpPr>
        <p:spPr>
          <a:xfrm>
            <a:off x="9160000" y="1840000"/>
            <a:ext cx="210000" cy="210000"/>
          </a:xfrm>
          <a:prstGeom prst="ellipse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18" name="Component title 2"/>
          <p:cNvSpPr txBox="1"/>
          <p:nvPr/>
        </p:nvSpPr>
        <p:spPr>
          <a:xfrm>
            <a:off x="9500000" y="1820000"/>
            <a:ext cx="168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6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960" b="1">
                <a:solidFill>
                  <a:srgbClr val="1A2620"/>
                </a:solidFill>
                <a:latin typeface="Aptos"/>
                <a:cs typeface="Aptos"/>
              </a:rPr>
              <a:t>Affordability fit</a:t>
            </a:r>
          </a:p>
        </p:txBody>
      </p:sp>
      <p:sp>
        <p:nvSpPr>
          <p:cNvPr id="19" name="Component body 2"/>
          <p:cNvSpPr txBox="1"/>
          <p:nvPr/>
        </p:nvSpPr>
        <p:spPr>
          <a:xfrm>
            <a:off x="9500000" y="2090000"/>
            <a:ext cx="16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76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760">
                <a:solidFill>
                  <a:srgbClr val="69746E"/>
                </a:solidFill>
                <a:latin typeface="Aptos"/>
                <a:cs typeface="Aptos"/>
              </a:rPr>
              <a:t>Khả năng chi trả + rủi ro</a:t>
            </a:r>
          </a:p>
        </p:txBody>
      </p:sp>
      <p:sp>
        <p:nvSpPr>
          <p:cNvPr id="20" name="Line"/>
          <p:cNvSpPr/>
          <p:nvPr/>
        </p:nvSpPr>
        <p:spPr>
          <a:xfrm>
            <a:off x="10160000" y="3770000"/>
            <a:ext cx="18000" cy="430000"/>
          </a:xfrm>
          <a:prstGeom prst="rect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21" name="Component 3"/>
          <p:cNvSpPr/>
          <p:nvPr/>
        </p:nvSpPr>
        <p:spPr>
          <a:xfrm>
            <a:off x="2540000" y="5330000"/>
            <a:ext cx="2440000" cy="9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2" name="Component dot 3"/>
          <p:cNvSpPr/>
          <p:nvPr/>
        </p:nvSpPr>
        <p:spPr>
          <a:xfrm>
            <a:off x="2760000" y="5550000"/>
            <a:ext cx="210000" cy="210000"/>
          </a:xfrm>
          <a:prstGeom prst="ellipse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23" name="Component title 3"/>
          <p:cNvSpPr txBox="1"/>
          <p:nvPr/>
        </p:nvSpPr>
        <p:spPr>
          <a:xfrm>
            <a:off x="3100000" y="5530000"/>
            <a:ext cx="168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6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960" b="1">
                <a:solidFill>
                  <a:srgbClr val="1A2620"/>
                </a:solidFill>
                <a:latin typeface="Aptos"/>
                <a:cs typeface="Aptos"/>
              </a:rPr>
              <a:t>Timing need</a:t>
            </a:r>
          </a:p>
        </p:txBody>
      </p:sp>
      <p:sp>
        <p:nvSpPr>
          <p:cNvPr id="24" name="Component body 3"/>
          <p:cNvSpPr txBox="1"/>
          <p:nvPr/>
        </p:nvSpPr>
        <p:spPr>
          <a:xfrm>
            <a:off x="3100000" y="5800000"/>
            <a:ext cx="16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76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760">
                <a:solidFill>
                  <a:srgbClr val="69746E"/>
                </a:solidFill>
                <a:latin typeface="Aptos"/>
                <a:cs typeface="Aptos"/>
              </a:rPr>
              <a:t>Nhu cầu gần đây</a:t>
            </a:r>
          </a:p>
        </p:txBody>
      </p:sp>
      <p:sp>
        <p:nvSpPr>
          <p:cNvPr id="25" name="Line"/>
          <p:cNvSpPr/>
          <p:nvPr/>
        </p:nvSpPr>
        <p:spPr>
          <a:xfrm>
            <a:off x="3760000" y="4930000"/>
            <a:ext cx="18000" cy="430000"/>
          </a:xfrm>
          <a:prstGeom prst="rect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26" name="Component 4"/>
          <p:cNvSpPr/>
          <p:nvPr/>
        </p:nvSpPr>
        <p:spPr>
          <a:xfrm>
            <a:off x="7670000" y="5330000"/>
            <a:ext cx="2440000" cy="9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7" name="Component dot 4"/>
          <p:cNvSpPr/>
          <p:nvPr/>
        </p:nvSpPr>
        <p:spPr>
          <a:xfrm>
            <a:off x="7890000" y="5550000"/>
            <a:ext cx="210000" cy="210000"/>
          </a:xfrm>
          <a:prstGeom prst="ellipse">
            <a:avLst/>
          </a:prstGeom>
          <a:solidFill>
            <a:srgbClr val="6D8A4E"/>
          </a:solidFill>
          <a:ln>
            <a:noFill/>
          </a:ln>
        </p:spPr>
      </p:sp>
      <p:sp>
        <p:nvSpPr>
          <p:cNvPr id="28" name="Component title 4"/>
          <p:cNvSpPr txBox="1"/>
          <p:nvPr/>
        </p:nvSpPr>
        <p:spPr>
          <a:xfrm>
            <a:off x="8230000" y="5530000"/>
            <a:ext cx="168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6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960" b="1">
                <a:solidFill>
                  <a:srgbClr val="1A2620"/>
                </a:solidFill>
                <a:latin typeface="Aptos"/>
                <a:cs typeface="Aptos"/>
              </a:rPr>
              <a:t>Campaign priority</a:t>
            </a:r>
          </a:p>
        </p:txBody>
      </p:sp>
      <p:sp>
        <p:nvSpPr>
          <p:cNvPr id="29" name="Component body 4"/>
          <p:cNvSpPr txBox="1"/>
          <p:nvPr/>
        </p:nvSpPr>
        <p:spPr>
          <a:xfrm>
            <a:off x="8230000" y="5800000"/>
            <a:ext cx="166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76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760">
                <a:solidFill>
                  <a:srgbClr val="69746E"/>
                </a:solidFill>
                <a:latin typeface="Aptos"/>
                <a:cs typeface="Aptos"/>
              </a:rPr>
              <a:t>Ưu tiên kinh doanh</a:t>
            </a:r>
          </a:p>
        </p:txBody>
      </p:sp>
      <p:sp>
        <p:nvSpPr>
          <p:cNvPr id="30" name="Line"/>
          <p:cNvSpPr/>
          <p:nvPr/>
        </p:nvSpPr>
        <p:spPr>
          <a:xfrm>
            <a:off x="8890000" y="4930000"/>
            <a:ext cx="18000" cy="430000"/>
          </a:xfrm>
          <a:prstGeom prst="rect">
            <a:avLst/>
          </a:prstGeom>
          <a:solidFill>
            <a:srgbClr val="6D8A4E"/>
          </a:solidFill>
          <a:ln>
            <a:noFill/>
          </a:ln>
        </p:spPr>
      </p:sp>
      <p:sp>
        <p:nvSpPr>
          <p:cNvPr id="31" name="Formula note"/>
          <p:cNvSpPr/>
          <p:nvPr/>
        </p:nvSpPr>
        <p:spPr>
          <a:xfrm>
            <a:off x="2020000" y="6490000"/>
            <a:ext cx="9300000" cy="420000"/>
          </a:xfrm>
          <a:prstGeom prst="roundRect">
            <a:avLst/>
          </a:prstGeom>
          <a:solidFill>
            <a:srgbClr val="D9EAF0"/>
          </a:solidFill>
          <a:ln>
            <a:noFill/>
          </a:ln>
        </p:spPr>
      </p:sp>
      <p:sp>
        <p:nvSpPr>
          <p:cNvPr id="32" name="Formula note text"/>
          <p:cNvSpPr txBox="1"/>
          <p:nvPr/>
        </p:nvSpPr>
        <p:spPr>
          <a:xfrm>
            <a:off x="2260000" y="6610000"/>
            <a:ext cx="8820000" cy="1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90">
                <a:solidFill>
                  <a:srgbClr val="2B6777"/>
                </a:solidFill>
                <a:latin typeface="Aptos"/>
                <a:cs typeface="Aptos"/>
              </a:defRPr>
            </a:pPr>
            <a:r>
              <a:rPr lang="vi-VN" sz="990" b="1">
                <a:solidFill>
                  <a:srgbClr val="2B6777"/>
                </a:solidFill>
                <a:latin typeface="Aptos"/>
                <a:cs typeface="Aptos"/>
              </a:rPr>
              <a:t>Mỗi thành phần giúp score vừa đúng dữ liệu, vừa đúng mục tiêu kinh doanh.</a:t>
            </a:r>
          </a:p>
        </p:txBody>
      </p:sp>
      <p:sp>
        <p:nvSpPr>
          <p:cNvPr id="33" name="Footer line"/>
          <p:cNvSpPr/>
          <p:nvPr/>
        </p:nvSpPr>
        <p:spPr>
          <a:xfrm>
            <a:off x="700000" y="7090000"/>
            <a:ext cx="11900000" cy="18000"/>
          </a:xfrm>
          <a:prstGeom prst="rect">
            <a:avLst/>
          </a:prstGeom>
          <a:solidFill>
            <a:srgbClr val="D7D0C4">
              <a:alpha val="70000"/>
            </a:srgbClr>
          </a:solidFill>
          <a:ln>
            <a:noFill/>
          </a:ln>
        </p:spPr>
      </p:sp>
      <p:sp>
        <p:nvSpPr>
          <p:cNvPr id="34" name="Slide number"/>
          <p:cNvSpPr txBox="1"/>
          <p:nvPr/>
        </p:nvSpPr>
        <p:spPr>
          <a:xfrm>
            <a:off x="11760000" y="7140000"/>
            <a:ext cx="8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08/12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20000" y="38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167A57"/>
                </a:solidFill>
                <a:latin typeface="Aptos"/>
                <a:cs typeface="Aptos"/>
              </a:rPr>
              <a:t>FRAUD SCORE LÀ CỔNG CHẶN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00000" y="640000"/>
            <a:ext cx="119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28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2850" b="1">
                <a:solidFill>
                  <a:srgbClr val="1A2620"/>
                </a:solidFill>
                <a:latin typeface="Aptos Display"/>
                <a:cs typeface="Aptos Display"/>
              </a:rPr>
              <a:t>Guardrail rủi ro</a:t>
            </a:r>
          </a:p>
        </p:txBody>
      </p:sp>
      <p:sp>
        <p:nvSpPr>
          <p:cNvPr id="4" name="Guard card 0"/>
          <p:cNvSpPr/>
          <p:nvPr/>
        </p:nvSpPr>
        <p:spPr>
          <a:xfrm>
            <a:off x="850000" y="1780000"/>
            <a:ext cx="3520000" cy="3920000"/>
          </a:xfrm>
          <a:prstGeom prst="roundRect">
            <a:avLst/>
          </a:prstGeom>
          <a:solidFill>
            <a:srgbClr val="DDEBE2"/>
          </a:solidFill>
          <a:ln>
            <a:noFill/>
          </a:ln>
        </p:spPr>
      </p:sp>
      <p:sp>
        <p:nvSpPr>
          <p:cNvPr id="5" name="Traffic light 0"/>
          <p:cNvSpPr/>
          <p:nvPr/>
        </p:nvSpPr>
        <p:spPr>
          <a:xfrm>
            <a:off x="2110000" y="2190000"/>
            <a:ext cx="1000000" cy="1000000"/>
          </a:xfrm>
          <a:prstGeom prst="ellipse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6" name="Score 0"/>
          <p:cNvSpPr txBox="1"/>
          <p:nvPr/>
        </p:nvSpPr>
        <p:spPr>
          <a:xfrm>
            <a:off x="1590000" y="3520000"/>
            <a:ext cx="204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2100">
                <a:solidFill>
                  <a:srgbClr val="167A57"/>
                </a:solidFill>
                <a:latin typeface="Aptos Display"/>
                <a:cs typeface="Aptos Display"/>
              </a:defRPr>
            </a:pPr>
            <a:r>
              <a:rPr lang="vi-VN" sz="2100" b="1">
                <a:solidFill>
                  <a:srgbClr val="167A57"/>
                </a:solidFill>
                <a:latin typeface="Aptos Display"/>
                <a:cs typeface="Aptos Display"/>
              </a:rPr>
              <a:t>&lt; 0.3</a:t>
            </a:r>
          </a:p>
        </p:txBody>
      </p:sp>
      <p:sp>
        <p:nvSpPr>
          <p:cNvPr id="7" name="Status 0"/>
          <p:cNvSpPr txBox="1"/>
          <p:nvPr/>
        </p:nvSpPr>
        <p:spPr>
          <a:xfrm>
            <a:off x="1590000" y="4060000"/>
            <a:ext cx="204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8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80" b="1">
                <a:solidFill>
                  <a:srgbClr val="1A2620"/>
                </a:solidFill>
                <a:latin typeface="Aptos"/>
                <a:cs typeface="Aptos"/>
              </a:rPr>
              <a:t>Go</a:t>
            </a:r>
          </a:p>
        </p:txBody>
      </p:sp>
      <p:sp>
        <p:nvSpPr>
          <p:cNvPr id="8" name="Action 0"/>
          <p:cNvSpPr txBox="1"/>
          <p:nvPr/>
        </p:nvSpPr>
        <p:spPr>
          <a:xfrm>
            <a:off x="1270000" y="4610000"/>
            <a:ext cx="268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9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90">
                <a:solidFill>
                  <a:srgbClr val="69746E"/>
                </a:solidFill>
                <a:latin typeface="Aptos"/>
                <a:cs typeface="Aptos"/>
              </a:rPr>
              <a:t>Gợi ý đầy đủ sản phẩm đủ điều kiện</a:t>
            </a:r>
          </a:p>
        </p:txBody>
      </p:sp>
      <p:sp>
        <p:nvSpPr>
          <p:cNvPr id="9" name="Guard card 1"/>
          <p:cNvSpPr/>
          <p:nvPr/>
        </p:nvSpPr>
        <p:spPr>
          <a:xfrm>
            <a:off x="4950000" y="1780000"/>
            <a:ext cx="3520000" cy="3920000"/>
          </a:xfrm>
          <a:prstGeom prst="roundRect">
            <a:avLst/>
          </a:prstGeom>
          <a:solidFill>
            <a:srgbClr val="F7E4BF"/>
          </a:solidFill>
          <a:ln>
            <a:noFill/>
          </a:ln>
        </p:spPr>
      </p:sp>
      <p:sp>
        <p:nvSpPr>
          <p:cNvPr id="10" name="Traffic light 1"/>
          <p:cNvSpPr/>
          <p:nvPr/>
        </p:nvSpPr>
        <p:spPr>
          <a:xfrm>
            <a:off x="6210000" y="2190000"/>
            <a:ext cx="1000000" cy="1000000"/>
          </a:xfrm>
          <a:prstGeom prst="ellipse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11" name="Score 1"/>
          <p:cNvSpPr txBox="1"/>
          <p:nvPr/>
        </p:nvSpPr>
        <p:spPr>
          <a:xfrm>
            <a:off x="5690000" y="3520000"/>
            <a:ext cx="204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2100">
                <a:solidFill>
                  <a:srgbClr val="D4922D"/>
                </a:solidFill>
                <a:latin typeface="Aptos Display"/>
                <a:cs typeface="Aptos Display"/>
              </a:defRPr>
            </a:pPr>
            <a:r>
              <a:rPr lang="vi-VN" sz="2100" b="1">
                <a:solidFill>
                  <a:srgbClr val="D4922D"/>
                </a:solidFill>
                <a:latin typeface="Aptos Display"/>
                <a:cs typeface="Aptos Display"/>
              </a:rPr>
              <a:t>0.3 - 0.7</a:t>
            </a:r>
          </a:p>
        </p:txBody>
      </p:sp>
      <p:sp>
        <p:nvSpPr>
          <p:cNvPr id="12" name="Status 1"/>
          <p:cNvSpPr txBox="1"/>
          <p:nvPr/>
        </p:nvSpPr>
        <p:spPr>
          <a:xfrm>
            <a:off x="5690000" y="4060000"/>
            <a:ext cx="204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8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80" b="1">
                <a:solidFill>
                  <a:srgbClr val="1A2620"/>
                </a:solidFill>
                <a:latin typeface="Aptos"/>
                <a:cs typeface="Aptos"/>
              </a:rPr>
              <a:t>Review</a:t>
            </a:r>
          </a:p>
        </p:txBody>
      </p:sp>
      <p:sp>
        <p:nvSpPr>
          <p:cNvPr id="13" name="Action 1"/>
          <p:cNvSpPr txBox="1"/>
          <p:nvPr/>
        </p:nvSpPr>
        <p:spPr>
          <a:xfrm>
            <a:off x="5370000" y="4610000"/>
            <a:ext cx="268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9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90">
                <a:solidFill>
                  <a:srgbClr val="69746E"/>
                </a:solidFill>
                <a:latin typeface="Aptos"/>
                <a:cs typeface="Aptos"/>
              </a:rPr>
              <a:t>Chỉ giữ sản phẩm rủi ro thấp</a:t>
            </a:r>
          </a:p>
        </p:txBody>
      </p:sp>
      <p:sp>
        <p:nvSpPr>
          <p:cNvPr id="14" name="Guard card 2"/>
          <p:cNvSpPr/>
          <p:nvPr/>
        </p:nvSpPr>
        <p:spPr>
          <a:xfrm>
            <a:off x="9050000" y="1780000"/>
            <a:ext cx="3520000" cy="3920000"/>
          </a:xfrm>
          <a:prstGeom prst="roundRect">
            <a:avLst/>
          </a:prstGeom>
          <a:solidFill>
            <a:srgbClr val="F3CFC9"/>
          </a:solidFill>
          <a:ln>
            <a:noFill/>
          </a:ln>
        </p:spPr>
      </p:sp>
      <p:sp>
        <p:nvSpPr>
          <p:cNvPr id="15" name="Traffic light 2"/>
          <p:cNvSpPr/>
          <p:nvPr/>
        </p:nvSpPr>
        <p:spPr>
          <a:xfrm>
            <a:off x="10310000" y="2190000"/>
            <a:ext cx="1000000" cy="1000000"/>
          </a:xfrm>
          <a:prstGeom prst="ellipse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16" name="Score 2"/>
          <p:cNvSpPr txBox="1"/>
          <p:nvPr/>
        </p:nvSpPr>
        <p:spPr>
          <a:xfrm>
            <a:off x="9790000" y="3520000"/>
            <a:ext cx="2040000" cy="4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2100">
                <a:solidFill>
                  <a:srgbClr val="B74337"/>
                </a:solidFill>
                <a:latin typeface="Aptos Display"/>
                <a:cs typeface="Aptos Display"/>
              </a:defRPr>
            </a:pPr>
            <a:r>
              <a:rPr lang="vi-VN" sz="2100" b="1">
                <a:solidFill>
                  <a:srgbClr val="B74337"/>
                </a:solidFill>
                <a:latin typeface="Aptos Display"/>
                <a:cs typeface="Aptos Display"/>
              </a:rPr>
              <a:t>&gt;= 0.7</a:t>
            </a:r>
          </a:p>
        </p:txBody>
      </p:sp>
      <p:sp>
        <p:nvSpPr>
          <p:cNvPr id="17" name="Status 2"/>
          <p:cNvSpPr txBox="1"/>
          <p:nvPr/>
        </p:nvSpPr>
        <p:spPr>
          <a:xfrm>
            <a:off x="9790000" y="4060000"/>
            <a:ext cx="204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8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80" b="1">
                <a:solidFill>
                  <a:srgbClr val="1A2620"/>
                </a:solidFill>
                <a:latin typeface="Aptos"/>
                <a:cs typeface="Aptos"/>
              </a:rPr>
              <a:t>Stop</a:t>
            </a:r>
          </a:p>
        </p:txBody>
      </p:sp>
      <p:sp>
        <p:nvSpPr>
          <p:cNvPr id="18" name="Action 2"/>
          <p:cNvSpPr txBox="1"/>
          <p:nvPr/>
        </p:nvSpPr>
        <p:spPr>
          <a:xfrm>
            <a:off x="9470000" y="4610000"/>
            <a:ext cx="268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9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90">
                <a:solidFill>
                  <a:srgbClr val="69746E"/>
                </a:solidFill>
                <a:latin typeface="Aptos"/>
                <a:cs typeface="Aptos"/>
              </a:rPr>
              <a:t>Không gợi ý sản phẩm nào</a:t>
            </a:r>
          </a:p>
        </p:txBody>
      </p:sp>
      <p:sp>
        <p:nvSpPr>
          <p:cNvPr id="19" name="Why matters"/>
          <p:cNvSpPr/>
          <p:nvPr/>
        </p:nvSpPr>
        <p:spPr>
          <a:xfrm>
            <a:off x="1580000" y="6170000"/>
            <a:ext cx="10120000" cy="490000"/>
          </a:xfrm>
          <a:prstGeom prst="roundRect">
            <a:avLst/>
          </a:prstGeom>
          <a:solidFill>
            <a:srgbClr val="1A2620"/>
          </a:solidFill>
          <a:ln>
            <a:noFill/>
          </a:ln>
        </p:spPr>
      </p:sp>
      <p:sp>
        <p:nvSpPr>
          <p:cNvPr id="20" name="Why matters text"/>
          <p:cNvSpPr txBox="1"/>
          <p:nvPr/>
        </p:nvSpPr>
        <p:spPr>
          <a:xfrm>
            <a:off x="1950000" y="6310000"/>
            <a:ext cx="938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11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110" b="1">
                <a:solidFill>
                  <a:srgbClr val="FFFFFF"/>
                </a:solidFill>
                <a:latin typeface="Aptos"/>
                <a:cs typeface="Aptos"/>
              </a:rPr>
              <a:t>Guardrail giúp recommendation tăng doanh thu mà không tăng rủi ro vận hành.</a:t>
            </a:r>
          </a:p>
        </p:txBody>
      </p:sp>
      <p:sp>
        <p:nvSpPr>
          <p:cNvPr id="21" name="Footer line"/>
          <p:cNvSpPr/>
          <p:nvPr/>
        </p:nvSpPr>
        <p:spPr>
          <a:xfrm>
            <a:off x="700000" y="7090000"/>
            <a:ext cx="11900000" cy="18000"/>
          </a:xfrm>
          <a:prstGeom prst="rect">
            <a:avLst/>
          </a:prstGeom>
          <a:solidFill>
            <a:srgbClr val="D7D0C4">
              <a:alpha val="70000"/>
            </a:srgbClr>
          </a:solidFill>
          <a:ln>
            <a:noFill/>
          </a:ln>
        </p:spPr>
      </p:sp>
      <p:sp>
        <p:nvSpPr>
          <p:cNvPr id="22" name="Slide number"/>
          <p:cNvSpPr txBox="1"/>
          <p:nvPr/>
        </p:nvSpPr>
        <p:spPr>
          <a:xfrm>
            <a:off x="11760000" y="7140000"/>
            <a:ext cx="8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20000" y="38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167A57"/>
                </a:solidFill>
                <a:latin typeface="Aptos"/>
                <a:cs typeface="Aptos"/>
              </a:rPr>
              <a:t>RISK MIX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00000" y="640000"/>
            <a:ext cx="119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28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2850" b="1">
                <a:solidFill>
                  <a:srgbClr val="1A2620"/>
                </a:solidFill>
                <a:latin typeface="Aptos Display"/>
                <a:cs typeface="Aptos Display"/>
              </a:rPr>
              <a:t>Các nhóm sản phẩm theo rủi ro</a:t>
            </a:r>
          </a:p>
        </p:txBody>
      </p:sp>
      <p:sp>
        <p:nvSpPr>
          <p:cNvPr id="4" name="Stack low"/>
          <p:cNvSpPr/>
          <p:nvPr/>
        </p:nvSpPr>
        <p:spPr>
          <a:xfrm>
            <a:off x="1040000" y="2060000"/>
            <a:ext cx="6000000" cy="620000"/>
          </a:xfrm>
          <a:prstGeom prst="rect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5" name="Stack text low"/>
          <p:cNvSpPr txBox="1"/>
          <p:nvPr/>
        </p:nvSpPr>
        <p:spPr>
          <a:xfrm>
            <a:off x="1040000" y="2240000"/>
            <a:ext cx="60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04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040" b="1">
                <a:solidFill>
                  <a:srgbClr val="FFFFFF"/>
                </a:solidFill>
                <a:latin typeface="Aptos"/>
                <a:cs typeface="Aptos"/>
              </a:rPr>
              <a:t>Low · 8</a:t>
            </a:r>
          </a:p>
        </p:txBody>
      </p:sp>
      <p:sp>
        <p:nvSpPr>
          <p:cNvPr id="6" name="Stack medium"/>
          <p:cNvSpPr/>
          <p:nvPr/>
        </p:nvSpPr>
        <p:spPr>
          <a:xfrm>
            <a:off x="7040000" y="2060000"/>
            <a:ext cx="4500000" cy="620000"/>
          </a:xfrm>
          <a:prstGeom prst="rect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7" name="Stack text medium"/>
          <p:cNvSpPr txBox="1"/>
          <p:nvPr/>
        </p:nvSpPr>
        <p:spPr>
          <a:xfrm>
            <a:off x="7040000" y="2240000"/>
            <a:ext cx="45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04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040" b="1">
                <a:solidFill>
                  <a:srgbClr val="FFFFFF"/>
                </a:solidFill>
                <a:latin typeface="Aptos"/>
                <a:cs typeface="Aptos"/>
              </a:rPr>
              <a:t>Medium · 6</a:t>
            </a:r>
          </a:p>
        </p:txBody>
      </p:sp>
      <p:sp>
        <p:nvSpPr>
          <p:cNvPr id="8" name="Stack high"/>
          <p:cNvSpPr/>
          <p:nvPr/>
        </p:nvSpPr>
        <p:spPr>
          <a:xfrm>
            <a:off x="11540000" y="2060000"/>
            <a:ext cx="750000" cy="620000"/>
          </a:xfrm>
          <a:prstGeom prst="rect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9" name="Stack text high"/>
          <p:cNvSpPr txBox="1"/>
          <p:nvPr/>
        </p:nvSpPr>
        <p:spPr>
          <a:xfrm>
            <a:off x="11540000" y="2240000"/>
            <a:ext cx="75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104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1040" b="1">
                <a:solidFill>
                  <a:srgbClr val="FFFFFF"/>
                </a:solidFill>
                <a:latin typeface="Aptos"/>
                <a:cs typeface="Aptos"/>
              </a:rPr>
              <a:t>High · 1</a:t>
            </a:r>
          </a:p>
        </p:txBody>
      </p:sp>
      <p:sp>
        <p:nvSpPr>
          <p:cNvPr id="10" name="Risk detail low"/>
          <p:cNvSpPr/>
          <p:nvPr/>
        </p:nvSpPr>
        <p:spPr>
          <a:xfrm>
            <a:off x="1040000" y="3310000"/>
            <a:ext cx="3480000" cy="2240000"/>
          </a:xfrm>
          <a:prstGeom prst="roundRect">
            <a:avLst/>
          </a:prstGeom>
          <a:solidFill>
            <a:srgbClr val="DDEBE2"/>
          </a:solidFill>
          <a:ln>
            <a:noFill/>
          </a:ln>
        </p:spPr>
      </p:sp>
      <p:sp>
        <p:nvSpPr>
          <p:cNvPr id="11" name="Risk dot low"/>
          <p:cNvSpPr/>
          <p:nvPr/>
        </p:nvSpPr>
        <p:spPr>
          <a:xfrm>
            <a:off x="1320000" y="3640000"/>
            <a:ext cx="260000" cy="260000"/>
          </a:xfrm>
          <a:prstGeom prst="ellipse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12" name="Risk title low"/>
          <p:cNvSpPr txBox="1"/>
          <p:nvPr/>
        </p:nvSpPr>
        <p:spPr>
          <a:xfrm>
            <a:off x="1720000" y="359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500">
                <a:solidFill>
                  <a:srgbClr val="167A57"/>
                </a:solidFill>
                <a:latin typeface="Aptos Display"/>
                <a:cs typeface="Aptos Display"/>
              </a:defRPr>
            </a:pPr>
            <a:r>
              <a:rPr lang="vi-VN" sz="1500" b="1">
                <a:solidFill>
                  <a:srgbClr val="167A57"/>
                </a:solidFill>
                <a:latin typeface="Aptos Display"/>
                <a:cs typeface="Aptos Display"/>
              </a:rPr>
              <a:t>Low</a:t>
            </a:r>
          </a:p>
        </p:txBody>
      </p:sp>
      <p:sp>
        <p:nvSpPr>
          <p:cNvPr id="13" name="Risk meaning low"/>
          <p:cNvSpPr txBox="1"/>
          <p:nvPr/>
        </p:nvSpPr>
        <p:spPr>
          <a:xfrm>
            <a:off x="1340000" y="4180000"/>
            <a:ext cx="285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4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940">
                <a:solidFill>
                  <a:srgbClr val="1A2620"/>
                </a:solidFill>
                <a:latin typeface="Aptos"/>
                <a:cs typeface="Aptos"/>
              </a:rPr>
              <a:t>Dễ gợi ý, an toàn, phù hợp nhiều khách</a:t>
            </a:r>
          </a:p>
        </p:txBody>
      </p:sp>
      <p:sp>
        <p:nvSpPr>
          <p:cNvPr id="14" name="Risk examples low"/>
          <p:cNvSpPr txBox="1"/>
          <p:nvPr/>
        </p:nvSpPr>
        <p:spPr>
          <a:xfrm>
            <a:off x="1340000" y="4890000"/>
            <a:ext cx="28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Bảo hiểm, tiết kiệm, bill payment</a:t>
            </a:r>
          </a:p>
        </p:txBody>
      </p:sp>
      <p:sp>
        <p:nvSpPr>
          <p:cNvPr id="15" name="Risk detail medium"/>
          <p:cNvSpPr/>
          <p:nvPr/>
        </p:nvSpPr>
        <p:spPr>
          <a:xfrm>
            <a:off x="5060000" y="3310000"/>
            <a:ext cx="3480000" cy="2240000"/>
          </a:xfrm>
          <a:prstGeom prst="roundRect">
            <a:avLst/>
          </a:prstGeom>
          <a:solidFill>
            <a:srgbClr val="F7E4BF"/>
          </a:solidFill>
          <a:ln>
            <a:noFill/>
          </a:ln>
        </p:spPr>
      </p:sp>
      <p:sp>
        <p:nvSpPr>
          <p:cNvPr id="16" name="Risk dot medium"/>
          <p:cNvSpPr/>
          <p:nvPr/>
        </p:nvSpPr>
        <p:spPr>
          <a:xfrm>
            <a:off x="5340000" y="3640000"/>
            <a:ext cx="260000" cy="260000"/>
          </a:xfrm>
          <a:prstGeom prst="ellipse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17" name="Risk title medium"/>
          <p:cNvSpPr txBox="1"/>
          <p:nvPr/>
        </p:nvSpPr>
        <p:spPr>
          <a:xfrm>
            <a:off x="5740000" y="359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500">
                <a:solidFill>
                  <a:srgbClr val="D4922D"/>
                </a:solidFill>
                <a:latin typeface="Aptos Display"/>
                <a:cs typeface="Aptos Display"/>
              </a:defRPr>
            </a:pPr>
            <a:r>
              <a:rPr lang="vi-VN" sz="1500" b="1">
                <a:solidFill>
                  <a:srgbClr val="D4922D"/>
                </a:solidFill>
                <a:latin typeface="Aptos Display"/>
                <a:cs typeface="Aptos Display"/>
              </a:rPr>
              <a:t>Medium</a:t>
            </a:r>
          </a:p>
        </p:txBody>
      </p:sp>
      <p:sp>
        <p:nvSpPr>
          <p:cNvPr id="18" name="Risk meaning medium"/>
          <p:cNvSpPr txBox="1"/>
          <p:nvPr/>
        </p:nvSpPr>
        <p:spPr>
          <a:xfrm>
            <a:off x="5360000" y="4180000"/>
            <a:ext cx="285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4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940">
                <a:solidFill>
                  <a:srgbClr val="1A2620"/>
                </a:solidFill>
                <a:latin typeface="Aptos"/>
                <a:cs typeface="Aptos"/>
              </a:rPr>
              <a:t>Cần kiểm tra điều kiện và risk score</a:t>
            </a:r>
          </a:p>
        </p:txBody>
      </p:sp>
      <p:sp>
        <p:nvSpPr>
          <p:cNvPr id="19" name="Risk examples medium"/>
          <p:cNvSpPr txBox="1"/>
          <p:nvPr/>
        </p:nvSpPr>
        <p:spPr>
          <a:xfrm>
            <a:off x="5360000" y="4890000"/>
            <a:ext cx="28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Thẻ tín dụng, khoản vay</a:t>
            </a:r>
          </a:p>
        </p:txBody>
      </p:sp>
      <p:sp>
        <p:nvSpPr>
          <p:cNvPr id="20" name="Risk detail high"/>
          <p:cNvSpPr/>
          <p:nvPr/>
        </p:nvSpPr>
        <p:spPr>
          <a:xfrm>
            <a:off x="9080000" y="3310000"/>
            <a:ext cx="3480000" cy="2240000"/>
          </a:xfrm>
          <a:prstGeom prst="roundRect">
            <a:avLst/>
          </a:prstGeom>
          <a:solidFill>
            <a:srgbClr val="F3CFC9"/>
          </a:solidFill>
          <a:ln>
            <a:noFill/>
          </a:ln>
        </p:spPr>
      </p:sp>
      <p:sp>
        <p:nvSpPr>
          <p:cNvPr id="21" name="Risk dot high"/>
          <p:cNvSpPr/>
          <p:nvPr/>
        </p:nvSpPr>
        <p:spPr>
          <a:xfrm>
            <a:off x="9360000" y="3640000"/>
            <a:ext cx="260000" cy="260000"/>
          </a:xfrm>
          <a:prstGeom prst="ellipse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22" name="Risk title high"/>
          <p:cNvSpPr txBox="1"/>
          <p:nvPr/>
        </p:nvSpPr>
        <p:spPr>
          <a:xfrm>
            <a:off x="9760000" y="3590000"/>
            <a:ext cx="23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500">
                <a:solidFill>
                  <a:srgbClr val="B74337"/>
                </a:solidFill>
                <a:latin typeface="Aptos Display"/>
                <a:cs typeface="Aptos Display"/>
              </a:defRPr>
            </a:pPr>
            <a:r>
              <a:rPr lang="vi-VN" sz="1500" b="1">
                <a:solidFill>
                  <a:srgbClr val="B74337"/>
                </a:solidFill>
                <a:latin typeface="Aptos Display"/>
                <a:cs typeface="Aptos Display"/>
              </a:rPr>
              <a:t>High</a:t>
            </a:r>
          </a:p>
        </p:txBody>
      </p:sp>
      <p:sp>
        <p:nvSpPr>
          <p:cNvPr id="23" name="Risk meaning high"/>
          <p:cNvSpPr txBox="1"/>
          <p:nvPr/>
        </p:nvSpPr>
        <p:spPr>
          <a:xfrm>
            <a:off x="9380000" y="4180000"/>
            <a:ext cx="2850000" cy="4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4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940">
                <a:solidFill>
                  <a:srgbClr val="1A2620"/>
                </a:solidFill>
                <a:latin typeface="Aptos"/>
                <a:cs typeface="Aptos"/>
              </a:rPr>
              <a:t>Chỉ dành cho khách phù hợp</a:t>
            </a:r>
          </a:p>
        </p:txBody>
      </p:sp>
      <p:sp>
        <p:nvSpPr>
          <p:cNvPr id="24" name="Risk examples high"/>
          <p:cNvSpPr txBox="1"/>
          <p:nvPr/>
        </p:nvSpPr>
        <p:spPr>
          <a:xfrm>
            <a:off x="9380000" y="4890000"/>
            <a:ext cx="28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3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30">
                <a:solidFill>
                  <a:srgbClr val="69746E"/>
                </a:solidFill>
                <a:latin typeface="Aptos"/>
                <a:cs typeface="Aptos"/>
              </a:rPr>
              <a:t>Investment fund</a:t>
            </a:r>
          </a:p>
        </p:txBody>
      </p:sp>
      <p:sp>
        <p:nvSpPr>
          <p:cNvPr id="25" name="Footer line"/>
          <p:cNvSpPr/>
          <p:nvPr/>
        </p:nvSpPr>
        <p:spPr>
          <a:xfrm>
            <a:off x="700000" y="7090000"/>
            <a:ext cx="11900000" cy="18000"/>
          </a:xfrm>
          <a:prstGeom prst="rect">
            <a:avLst/>
          </a:prstGeom>
          <a:solidFill>
            <a:srgbClr val="D7D0C4">
              <a:alpha val="70000"/>
            </a:srgbClr>
          </a:solidFill>
          <a:ln>
            <a:noFill/>
          </a:ln>
        </p:spPr>
      </p:sp>
      <p:sp>
        <p:nvSpPr>
          <p:cNvPr id="26" name="Slide number"/>
          <p:cNvSpPr txBox="1"/>
          <p:nvPr/>
        </p:nvSpPr>
        <p:spPr>
          <a:xfrm>
            <a:off x="11760000" y="7140000"/>
            <a:ext cx="8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20000" y="380000"/>
            <a:ext cx="105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50">
                <a:solidFill>
                  <a:srgbClr val="167A57"/>
                </a:solidFill>
                <a:latin typeface="Aptos"/>
                <a:cs typeface="Aptos"/>
              </a:defRPr>
            </a:pPr>
            <a:r>
              <a:rPr lang="vi-VN" sz="950" b="1">
                <a:solidFill>
                  <a:srgbClr val="167A57"/>
                </a:solidFill>
                <a:latin typeface="Aptos"/>
                <a:cs typeface="Aptos"/>
              </a:rPr>
              <a:t>QUY TRÌNH VẬN HÀNH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700000" y="640000"/>
            <a:ext cx="11900000" cy="5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2850">
                <a:solidFill>
                  <a:srgbClr val="1A2620"/>
                </a:solidFill>
                <a:latin typeface="Aptos Display"/>
                <a:cs typeface="Aptos Display"/>
              </a:defRPr>
            </a:pPr>
            <a:r>
              <a:rPr lang="vi-VN" sz="2850" b="1">
                <a:solidFill>
                  <a:srgbClr val="1A2620"/>
                </a:solidFill>
                <a:latin typeface="Aptos Display"/>
                <a:cs typeface="Aptos Display"/>
              </a:rPr>
              <a:t>Cách cập nhật catalog</a:t>
            </a:r>
          </a:p>
        </p:txBody>
      </p:sp>
      <p:sp>
        <p:nvSpPr>
          <p:cNvPr id="4" name="Update num 0"/>
          <p:cNvSpPr/>
          <p:nvPr/>
        </p:nvSpPr>
        <p:spPr>
          <a:xfrm>
            <a:off x="1140000" y="1460000"/>
            <a:ext cx="640000" cy="640000"/>
          </a:xfrm>
          <a:prstGeom prst="ellipse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5" name="Update num text 0"/>
          <p:cNvSpPr txBox="1"/>
          <p:nvPr/>
        </p:nvSpPr>
        <p:spPr>
          <a:xfrm>
            <a:off x="1140000" y="1650000"/>
            <a:ext cx="64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930" b="1">
                <a:solidFill>
                  <a:srgbClr val="FFFFFF"/>
                </a:solidFill>
                <a:latin typeface="Aptos"/>
                <a:cs typeface="Aptos"/>
              </a:rPr>
              <a:t>01</a:t>
            </a:r>
          </a:p>
        </p:txBody>
      </p:sp>
      <p:sp>
        <p:nvSpPr>
          <p:cNvPr id="6" name="Connector 0"/>
          <p:cNvSpPr/>
          <p:nvPr/>
        </p:nvSpPr>
        <p:spPr>
          <a:xfrm>
            <a:off x="1440000" y="2115000"/>
            <a:ext cx="42000" cy="310000"/>
          </a:xfrm>
          <a:prstGeom prst="rect">
            <a:avLst/>
          </a:prstGeom>
          <a:solidFill>
            <a:srgbClr val="D7D0C4"/>
          </a:solidFill>
          <a:ln>
            <a:noFill/>
          </a:ln>
        </p:spPr>
      </p:sp>
      <p:sp>
        <p:nvSpPr>
          <p:cNvPr id="7" name="Update card 0"/>
          <p:cNvSpPr/>
          <p:nvPr/>
        </p:nvSpPr>
        <p:spPr>
          <a:xfrm>
            <a:off x="2160000" y="1460000"/>
            <a:ext cx="8840000" cy="6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8" name="Update title 0"/>
          <p:cNvSpPr txBox="1"/>
          <p:nvPr/>
        </p:nvSpPr>
        <p:spPr>
          <a:xfrm>
            <a:off x="2500000" y="1605000"/>
            <a:ext cx="3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1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10" b="1">
                <a:solidFill>
                  <a:srgbClr val="1A2620"/>
                </a:solidFill>
                <a:latin typeface="Aptos"/>
                <a:cs typeface="Aptos"/>
              </a:rPr>
              <a:t>Cập nhật JSON</a:t>
            </a:r>
          </a:p>
        </p:txBody>
      </p:sp>
      <p:sp>
        <p:nvSpPr>
          <p:cNvPr id="9" name="Update body 0"/>
          <p:cNvSpPr txBox="1"/>
          <p:nvPr/>
        </p:nvSpPr>
        <p:spPr>
          <a:xfrm>
            <a:off x="5700000" y="1605000"/>
            <a:ext cx="49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1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10">
                <a:solidFill>
                  <a:srgbClr val="69746E"/>
                </a:solidFill>
                <a:latin typeface="Aptos"/>
                <a:cs typeface="Aptos"/>
              </a:rPr>
              <a:t>configs/product_catalog.json</a:t>
            </a:r>
          </a:p>
        </p:txBody>
      </p:sp>
      <p:sp>
        <p:nvSpPr>
          <p:cNvPr id="10" name="Update num 1"/>
          <p:cNvSpPr/>
          <p:nvPr/>
        </p:nvSpPr>
        <p:spPr>
          <a:xfrm>
            <a:off x="1140000" y="2410000"/>
            <a:ext cx="640000" cy="640000"/>
          </a:xfrm>
          <a:prstGeom prst="ellipse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1" name="Update num text 1"/>
          <p:cNvSpPr txBox="1"/>
          <p:nvPr/>
        </p:nvSpPr>
        <p:spPr>
          <a:xfrm>
            <a:off x="1140000" y="2600000"/>
            <a:ext cx="64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930" b="1">
                <a:solidFill>
                  <a:srgbClr val="FFFFFF"/>
                </a:solidFill>
                <a:latin typeface="Aptos"/>
                <a:cs typeface="Aptos"/>
              </a:rPr>
              <a:t>02</a:t>
            </a:r>
          </a:p>
        </p:txBody>
      </p:sp>
      <p:sp>
        <p:nvSpPr>
          <p:cNvPr id="12" name="Connector 1"/>
          <p:cNvSpPr/>
          <p:nvPr/>
        </p:nvSpPr>
        <p:spPr>
          <a:xfrm>
            <a:off x="1440000" y="3065000"/>
            <a:ext cx="42000" cy="310000"/>
          </a:xfrm>
          <a:prstGeom prst="rect">
            <a:avLst/>
          </a:prstGeom>
          <a:solidFill>
            <a:srgbClr val="D7D0C4"/>
          </a:solidFill>
          <a:ln>
            <a:noFill/>
          </a:ln>
        </p:spPr>
      </p:sp>
      <p:sp>
        <p:nvSpPr>
          <p:cNvPr id="13" name="Update card 1"/>
          <p:cNvSpPr/>
          <p:nvPr/>
        </p:nvSpPr>
        <p:spPr>
          <a:xfrm>
            <a:off x="2160000" y="2410000"/>
            <a:ext cx="8840000" cy="6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14" name="Update title 1"/>
          <p:cNvSpPr txBox="1"/>
          <p:nvPr/>
        </p:nvSpPr>
        <p:spPr>
          <a:xfrm>
            <a:off x="2500000" y="2555000"/>
            <a:ext cx="3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1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10" b="1">
                <a:solidFill>
                  <a:srgbClr val="1A2620"/>
                </a:solidFill>
                <a:latin typeface="Aptos"/>
                <a:cs typeface="Aptos"/>
              </a:rPr>
              <a:t>Kiểm tra target</a:t>
            </a:r>
          </a:p>
        </p:txBody>
      </p:sp>
      <p:sp>
        <p:nvSpPr>
          <p:cNvPr id="15" name="Update body 1"/>
          <p:cNvSpPr txBox="1"/>
          <p:nvPr/>
        </p:nvSpPr>
        <p:spPr>
          <a:xfrm>
            <a:off x="5700000" y="2555000"/>
            <a:ext cx="49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1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10">
                <a:solidFill>
                  <a:srgbClr val="69746E"/>
                </a:solidFill>
                <a:latin typeface="Aptos"/>
                <a:cs typeface="Aptos"/>
              </a:rPr>
              <a:t>target_behavior + target_signals_json</a:t>
            </a:r>
          </a:p>
        </p:txBody>
      </p:sp>
      <p:sp>
        <p:nvSpPr>
          <p:cNvPr id="16" name="Update num 2"/>
          <p:cNvSpPr/>
          <p:nvPr/>
        </p:nvSpPr>
        <p:spPr>
          <a:xfrm>
            <a:off x="1140000" y="3360000"/>
            <a:ext cx="640000" cy="640000"/>
          </a:xfrm>
          <a:prstGeom prst="ellipse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17" name="Update num text 2"/>
          <p:cNvSpPr txBox="1"/>
          <p:nvPr/>
        </p:nvSpPr>
        <p:spPr>
          <a:xfrm>
            <a:off x="1140000" y="3550000"/>
            <a:ext cx="64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930" b="1">
                <a:solidFill>
                  <a:srgbClr val="FFFFFF"/>
                </a:solidFill>
                <a:latin typeface="Aptos"/>
                <a:cs typeface="Aptos"/>
              </a:rPr>
              <a:t>03</a:t>
            </a:r>
          </a:p>
        </p:txBody>
      </p:sp>
      <p:sp>
        <p:nvSpPr>
          <p:cNvPr id="18" name="Connector 2"/>
          <p:cNvSpPr/>
          <p:nvPr/>
        </p:nvSpPr>
        <p:spPr>
          <a:xfrm>
            <a:off x="1440000" y="4015000"/>
            <a:ext cx="42000" cy="310000"/>
          </a:xfrm>
          <a:prstGeom prst="rect">
            <a:avLst/>
          </a:prstGeom>
          <a:solidFill>
            <a:srgbClr val="D7D0C4"/>
          </a:solidFill>
          <a:ln>
            <a:noFill/>
          </a:ln>
        </p:spPr>
      </p:sp>
      <p:sp>
        <p:nvSpPr>
          <p:cNvPr id="19" name="Update card 2"/>
          <p:cNvSpPr/>
          <p:nvPr/>
        </p:nvSpPr>
        <p:spPr>
          <a:xfrm>
            <a:off x="2160000" y="3360000"/>
            <a:ext cx="8840000" cy="6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0" name="Update title 2"/>
          <p:cNvSpPr txBox="1"/>
          <p:nvPr/>
        </p:nvSpPr>
        <p:spPr>
          <a:xfrm>
            <a:off x="2500000" y="3505000"/>
            <a:ext cx="3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1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10" b="1">
                <a:solidFill>
                  <a:srgbClr val="1A2620"/>
                </a:solidFill>
                <a:latin typeface="Aptos"/>
                <a:cs typeface="Aptos"/>
              </a:rPr>
              <a:t>Kiểm tra eligibility</a:t>
            </a:r>
          </a:p>
        </p:txBody>
      </p:sp>
      <p:sp>
        <p:nvSpPr>
          <p:cNvPr id="21" name="Update body 2"/>
          <p:cNvSpPr txBox="1"/>
          <p:nvPr/>
        </p:nvSpPr>
        <p:spPr>
          <a:xfrm>
            <a:off x="5700000" y="3505000"/>
            <a:ext cx="49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1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10">
                <a:solidFill>
                  <a:srgbClr val="69746E"/>
                </a:solidFill>
                <a:latin typeface="Aptos"/>
                <a:cs typeface="Aptos"/>
              </a:rPr>
              <a:t>Điều kiện được phép gợi ý</a:t>
            </a:r>
          </a:p>
        </p:txBody>
      </p:sp>
      <p:sp>
        <p:nvSpPr>
          <p:cNvPr id="22" name="Update num 3"/>
          <p:cNvSpPr/>
          <p:nvPr/>
        </p:nvSpPr>
        <p:spPr>
          <a:xfrm>
            <a:off x="1140000" y="4310000"/>
            <a:ext cx="640000" cy="640000"/>
          </a:xfrm>
          <a:prstGeom prst="ellipse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23" name="Update num text 3"/>
          <p:cNvSpPr txBox="1"/>
          <p:nvPr/>
        </p:nvSpPr>
        <p:spPr>
          <a:xfrm>
            <a:off x="1140000" y="4500000"/>
            <a:ext cx="64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930" b="1">
                <a:solidFill>
                  <a:srgbClr val="FFFFFF"/>
                </a:solidFill>
                <a:latin typeface="Aptos"/>
                <a:cs typeface="Aptos"/>
              </a:rPr>
              <a:t>04</a:t>
            </a:r>
          </a:p>
        </p:txBody>
      </p:sp>
      <p:sp>
        <p:nvSpPr>
          <p:cNvPr id="24" name="Connector 3"/>
          <p:cNvSpPr/>
          <p:nvPr/>
        </p:nvSpPr>
        <p:spPr>
          <a:xfrm>
            <a:off x="1440000" y="4965000"/>
            <a:ext cx="42000" cy="310000"/>
          </a:xfrm>
          <a:prstGeom prst="rect">
            <a:avLst/>
          </a:prstGeom>
          <a:solidFill>
            <a:srgbClr val="D7D0C4"/>
          </a:solidFill>
          <a:ln>
            <a:noFill/>
          </a:ln>
        </p:spPr>
      </p:sp>
      <p:sp>
        <p:nvSpPr>
          <p:cNvPr id="25" name="Update card 3"/>
          <p:cNvSpPr/>
          <p:nvPr/>
        </p:nvSpPr>
        <p:spPr>
          <a:xfrm>
            <a:off x="2160000" y="4310000"/>
            <a:ext cx="8840000" cy="6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26" name="Update title 3"/>
          <p:cNvSpPr txBox="1"/>
          <p:nvPr/>
        </p:nvSpPr>
        <p:spPr>
          <a:xfrm>
            <a:off x="2500000" y="4455000"/>
            <a:ext cx="3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1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10" b="1">
                <a:solidFill>
                  <a:srgbClr val="1A2620"/>
                </a:solidFill>
                <a:latin typeface="Aptos"/>
                <a:cs typeface="Aptos"/>
              </a:rPr>
              <a:t>Seed lại DB</a:t>
            </a:r>
          </a:p>
        </p:txBody>
      </p:sp>
      <p:sp>
        <p:nvSpPr>
          <p:cNvPr id="27" name="Update body 3"/>
          <p:cNvSpPr txBox="1"/>
          <p:nvPr/>
        </p:nvSpPr>
        <p:spPr>
          <a:xfrm>
            <a:off x="5700000" y="4455000"/>
            <a:ext cx="49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1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10">
                <a:solidFill>
                  <a:srgbClr val="69746E"/>
                </a:solidFill>
                <a:latin typeface="Aptos"/>
                <a:cs typeface="Aptos"/>
              </a:rPr>
              <a:t>src.db.init_db --recreate</a:t>
            </a:r>
          </a:p>
        </p:txBody>
      </p:sp>
      <p:sp>
        <p:nvSpPr>
          <p:cNvPr id="28" name="Update num 4"/>
          <p:cNvSpPr/>
          <p:nvPr/>
        </p:nvSpPr>
        <p:spPr>
          <a:xfrm>
            <a:off x="1140000" y="5260000"/>
            <a:ext cx="640000" cy="640000"/>
          </a:xfrm>
          <a:prstGeom prst="ellipse">
            <a:avLst/>
          </a:prstGeom>
          <a:solidFill>
            <a:srgbClr val="0D513C"/>
          </a:solidFill>
          <a:ln>
            <a:noFill/>
          </a:ln>
        </p:spPr>
      </p:sp>
      <p:sp>
        <p:nvSpPr>
          <p:cNvPr id="29" name="Update num text 4"/>
          <p:cNvSpPr txBox="1"/>
          <p:nvPr/>
        </p:nvSpPr>
        <p:spPr>
          <a:xfrm>
            <a:off x="1140000" y="5450000"/>
            <a:ext cx="64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930">
                <a:solidFill>
                  <a:srgbClr val="FFFFFF"/>
                </a:solidFill>
                <a:latin typeface="Aptos"/>
                <a:cs typeface="Aptos"/>
              </a:defRPr>
            </a:pPr>
            <a:r>
              <a:rPr lang="vi-VN" sz="930" b="1">
                <a:solidFill>
                  <a:srgbClr val="FFFFFF"/>
                </a:solidFill>
                <a:latin typeface="Aptos"/>
                <a:cs typeface="Aptos"/>
              </a:rPr>
              <a:t>05</a:t>
            </a:r>
          </a:p>
        </p:txBody>
      </p:sp>
      <p:sp>
        <p:nvSpPr>
          <p:cNvPr id="30" name="Update card 4"/>
          <p:cNvSpPr/>
          <p:nvPr/>
        </p:nvSpPr>
        <p:spPr>
          <a:xfrm>
            <a:off x="2160000" y="5260000"/>
            <a:ext cx="8840000" cy="640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7D0C4"/>
            </a:solidFill>
          </a:ln>
        </p:spPr>
      </p:sp>
      <p:sp>
        <p:nvSpPr>
          <p:cNvPr id="31" name="Update title 4"/>
          <p:cNvSpPr txBox="1"/>
          <p:nvPr/>
        </p:nvSpPr>
        <p:spPr>
          <a:xfrm>
            <a:off x="2500000" y="5405000"/>
            <a:ext cx="30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11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10" b="1">
                <a:solidFill>
                  <a:srgbClr val="1A2620"/>
                </a:solidFill>
                <a:latin typeface="Aptos"/>
                <a:cs typeface="Aptos"/>
              </a:rPr>
              <a:t>Kiểm tra dashboard</a:t>
            </a:r>
          </a:p>
        </p:txBody>
      </p:sp>
      <p:sp>
        <p:nvSpPr>
          <p:cNvPr id="32" name="Update body 4"/>
          <p:cNvSpPr txBox="1"/>
          <p:nvPr/>
        </p:nvSpPr>
        <p:spPr>
          <a:xfrm>
            <a:off x="5700000" y="5405000"/>
            <a:ext cx="49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91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910">
                <a:solidFill>
                  <a:srgbClr val="69746E"/>
                </a:solidFill>
                <a:latin typeface="Aptos"/>
                <a:cs typeface="Aptos"/>
              </a:rPr>
              <a:t>Recommendation output</a:t>
            </a:r>
          </a:p>
        </p:txBody>
      </p:sp>
      <p:sp>
        <p:nvSpPr>
          <p:cNvPr id="33" name="Command"/>
          <p:cNvSpPr/>
          <p:nvPr/>
        </p:nvSpPr>
        <p:spPr>
          <a:xfrm>
            <a:off x="2160000" y="6390000"/>
            <a:ext cx="8840000" cy="420000"/>
          </a:xfrm>
          <a:prstGeom prst="roundRect">
            <a:avLst/>
          </a:prstGeom>
          <a:solidFill>
            <a:srgbClr val="1A2620"/>
          </a:solidFill>
          <a:ln>
            <a:noFill/>
          </a:ln>
        </p:spPr>
      </p:sp>
      <p:sp>
        <p:nvSpPr>
          <p:cNvPr id="34" name="Command text"/>
          <p:cNvSpPr txBox="1"/>
          <p:nvPr/>
        </p:nvSpPr>
        <p:spPr>
          <a:xfrm>
            <a:off x="2440000" y="6500000"/>
            <a:ext cx="8260000" cy="1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>
              <a:spcAft>
                <a:spcPts val="0"/>
              </a:spcAft>
              <a:defRPr sz="760">
                <a:solidFill>
                  <a:srgbClr val="DDEBE2"/>
                </a:solidFill>
                <a:latin typeface="Consolas"/>
                <a:cs typeface="Consolas"/>
              </a:defRPr>
            </a:pPr>
            <a:r>
              <a:rPr lang="vi-VN" sz="760">
                <a:solidFill>
                  <a:srgbClr val="DDEBE2"/>
                </a:solidFill>
                <a:latin typeface="Consolas"/>
                <a:cs typeface="Consolas"/>
              </a:rPr>
              <a:t>.\.venv\Scripts\python.exe -m src.db.init_db --db data\smart_finance.db --recreate</a:t>
            </a:r>
          </a:p>
        </p:txBody>
      </p:sp>
      <p:sp>
        <p:nvSpPr>
          <p:cNvPr id="35" name="Footer line"/>
          <p:cNvSpPr/>
          <p:nvPr/>
        </p:nvSpPr>
        <p:spPr>
          <a:xfrm>
            <a:off x="700000" y="7090000"/>
            <a:ext cx="11900000" cy="18000"/>
          </a:xfrm>
          <a:prstGeom prst="rect">
            <a:avLst/>
          </a:prstGeom>
          <a:solidFill>
            <a:srgbClr val="D7D0C4">
              <a:alpha val="70000"/>
            </a:srgbClr>
          </a:solidFill>
          <a:ln>
            <a:noFill/>
          </a:ln>
        </p:spPr>
      </p:sp>
      <p:sp>
        <p:nvSpPr>
          <p:cNvPr id="36" name="Slide number"/>
          <p:cNvSpPr txBox="1"/>
          <p:nvPr/>
        </p:nvSpPr>
        <p:spPr>
          <a:xfrm>
            <a:off x="11760000" y="7140000"/>
            <a:ext cx="82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r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nal bg"/>
          <p:cNvSpPr/>
          <p:nvPr/>
        </p:nvSpPr>
        <p:spPr>
          <a:xfrm>
            <a:off x="0" y="0"/>
            <a:ext cx="13333333" cy="7500000"/>
          </a:xfrm>
          <a:prstGeom prst="rect">
            <a:avLst/>
          </a:prstGeom>
          <a:solidFill>
            <a:srgbClr val="1A2620"/>
          </a:solidFill>
          <a:ln>
            <a:noFill/>
          </a:ln>
        </p:spPr>
      </p:sp>
      <p:sp>
        <p:nvSpPr>
          <p:cNvPr id="3" name="Final orb"/>
          <p:cNvSpPr/>
          <p:nvPr/>
        </p:nvSpPr>
        <p:spPr>
          <a:xfrm>
            <a:off x="8000000" y="900000"/>
            <a:ext cx="4500000" cy="4500000"/>
          </a:xfrm>
          <a:prstGeom prst="ellipse">
            <a:avLst/>
          </a:prstGeom>
          <a:solidFill>
            <a:srgbClr val="167A57">
              <a:alpha val="35000"/>
            </a:srgbClr>
          </a:solidFill>
          <a:ln>
            <a:noFill/>
          </a:ln>
        </p:spPr>
      </p:sp>
      <p:sp>
        <p:nvSpPr>
          <p:cNvPr id="4" name="Final title"/>
          <p:cNvSpPr txBox="1"/>
          <p:nvPr/>
        </p:nvSpPr>
        <p:spPr>
          <a:xfrm>
            <a:off x="1040000" y="1220000"/>
            <a:ext cx="7800000" cy="1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4700">
                <a:solidFill>
                  <a:srgbClr val="FFFFFF"/>
                </a:solidFill>
                <a:latin typeface="Aptos Display"/>
                <a:cs typeface="Aptos Display"/>
              </a:defRPr>
            </a:pPr>
            <a:r>
              <a:rPr lang="vi-VN" sz="4700" b="1">
                <a:solidFill>
                  <a:srgbClr val="FFFFFF"/>
                </a:solidFill>
                <a:latin typeface="Aptos Display"/>
                <a:cs typeface="Aptos Display"/>
              </a:rPr>
              <a:t>Kết luận</a:t>
            </a:r>
          </a:p>
          <a:p>
            <a:pPr algn="l">
              <a:spcAft>
                <a:spcPts val="0"/>
              </a:spcAft>
              <a:defRPr sz="1480">
                <a:solidFill>
                  <a:srgbClr val="DDEBE2"/>
                </a:solidFill>
                <a:latin typeface="Aptos"/>
                <a:cs typeface="Aptos"/>
              </a:defRPr>
            </a:pPr>
            <a:r>
              <a:rPr lang="vi-VN" sz="1480">
                <a:solidFill>
                  <a:srgbClr val="DDEBE2"/>
                </a:solidFill>
                <a:latin typeface="Aptos"/>
                <a:cs typeface="Aptos"/>
              </a:rPr>
              <a:t>Product Catalog là cầu nối giữa dữ liệu hành vi và quyết định gợi ý sản phẩm.</a:t>
            </a:r>
          </a:p>
        </p:txBody>
      </p:sp>
      <p:sp>
        <p:nvSpPr>
          <p:cNvPr id="5" name="Outcome 0"/>
          <p:cNvSpPr/>
          <p:nvPr/>
        </p:nvSpPr>
        <p:spPr>
          <a:xfrm>
            <a:off x="1040000" y="3320000"/>
            <a:ext cx="4930000" cy="94000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</p:sp>
      <p:sp>
        <p:nvSpPr>
          <p:cNvPr id="6" name="Outcome marker 0"/>
          <p:cNvSpPr/>
          <p:nvPr/>
        </p:nvSpPr>
        <p:spPr>
          <a:xfrm>
            <a:off x="1300000" y="3630000"/>
            <a:ext cx="240000" cy="240000"/>
          </a:xfrm>
          <a:prstGeom prst="ellipse">
            <a:avLst/>
          </a:prstGeom>
          <a:solidFill>
            <a:srgbClr val="167A57"/>
          </a:solidFill>
          <a:ln>
            <a:noFill/>
          </a:ln>
        </p:spPr>
      </p:sp>
      <p:sp>
        <p:nvSpPr>
          <p:cNvPr id="7" name="Outcome title 0"/>
          <p:cNvSpPr txBox="1"/>
          <p:nvPr/>
        </p:nvSpPr>
        <p:spPr>
          <a:xfrm>
            <a:off x="1720000" y="3540000"/>
            <a:ext cx="380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16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60" b="1">
                <a:solidFill>
                  <a:srgbClr val="1A2620"/>
                </a:solidFill>
                <a:latin typeface="Aptos"/>
                <a:cs typeface="Aptos"/>
              </a:rPr>
              <a:t>Đúng sản phẩm</a:t>
            </a:r>
          </a:p>
        </p:txBody>
      </p:sp>
      <p:sp>
        <p:nvSpPr>
          <p:cNvPr id="8" name="Outcome body 0"/>
          <p:cNvSpPr txBox="1"/>
          <p:nvPr/>
        </p:nvSpPr>
        <p:spPr>
          <a:xfrm>
            <a:off x="1720000" y="3820000"/>
            <a:ext cx="38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Offer khớp hành vi và nhu cầu</a:t>
            </a:r>
          </a:p>
        </p:txBody>
      </p:sp>
      <p:sp>
        <p:nvSpPr>
          <p:cNvPr id="9" name="Outcome 1"/>
          <p:cNvSpPr/>
          <p:nvPr/>
        </p:nvSpPr>
        <p:spPr>
          <a:xfrm>
            <a:off x="6470000" y="3320000"/>
            <a:ext cx="4930000" cy="94000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</p:sp>
      <p:sp>
        <p:nvSpPr>
          <p:cNvPr id="10" name="Outcome marker 1"/>
          <p:cNvSpPr/>
          <p:nvPr/>
        </p:nvSpPr>
        <p:spPr>
          <a:xfrm>
            <a:off x="6730000" y="3630000"/>
            <a:ext cx="240000" cy="240000"/>
          </a:xfrm>
          <a:prstGeom prst="ellipse">
            <a:avLst/>
          </a:prstGeom>
          <a:solidFill>
            <a:srgbClr val="2B6777"/>
          </a:solidFill>
          <a:ln>
            <a:noFill/>
          </a:ln>
        </p:spPr>
      </p:sp>
      <p:sp>
        <p:nvSpPr>
          <p:cNvPr id="11" name="Outcome title 1"/>
          <p:cNvSpPr txBox="1"/>
          <p:nvPr/>
        </p:nvSpPr>
        <p:spPr>
          <a:xfrm>
            <a:off x="7150000" y="3540000"/>
            <a:ext cx="380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16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60" b="1">
                <a:solidFill>
                  <a:srgbClr val="1A2620"/>
                </a:solidFill>
                <a:latin typeface="Aptos"/>
                <a:cs typeface="Aptos"/>
              </a:rPr>
              <a:t>Giải thích rõ</a:t>
            </a:r>
          </a:p>
        </p:txBody>
      </p:sp>
      <p:sp>
        <p:nvSpPr>
          <p:cNvPr id="12" name="Outcome body 1"/>
          <p:cNvSpPr txBox="1"/>
          <p:nvPr/>
        </p:nvSpPr>
        <p:spPr>
          <a:xfrm>
            <a:off x="7150000" y="3820000"/>
            <a:ext cx="38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Có reason template và tín hiệu</a:t>
            </a:r>
          </a:p>
        </p:txBody>
      </p:sp>
      <p:sp>
        <p:nvSpPr>
          <p:cNvPr id="13" name="Outcome 2"/>
          <p:cNvSpPr/>
          <p:nvPr/>
        </p:nvSpPr>
        <p:spPr>
          <a:xfrm>
            <a:off x="1040000" y="4650000"/>
            <a:ext cx="4930000" cy="94000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</p:sp>
      <p:sp>
        <p:nvSpPr>
          <p:cNvPr id="14" name="Outcome marker 2"/>
          <p:cNvSpPr/>
          <p:nvPr/>
        </p:nvSpPr>
        <p:spPr>
          <a:xfrm>
            <a:off x="1300000" y="4960000"/>
            <a:ext cx="240000" cy="240000"/>
          </a:xfrm>
          <a:prstGeom prst="ellipse">
            <a:avLst/>
          </a:prstGeom>
          <a:solidFill>
            <a:srgbClr val="B74337"/>
          </a:solidFill>
          <a:ln>
            <a:noFill/>
          </a:ln>
        </p:spPr>
      </p:sp>
      <p:sp>
        <p:nvSpPr>
          <p:cNvPr id="15" name="Outcome title 2"/>
          <p:cNvSpPr txBox="1"/>
          <p:nvPr/>
        </p:nvSpPr>
        <p:spPr>
          <a:xfrm>
            <a:off x="1720000" y="4870000"/>
            <a:ext cx="380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16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60" b="1">
                <a:solidFill>
                  <a:srgbClr val="1A2620"/>
                </a:solidFill>
                <a:latin typeface="Aptos"/>
                <a:cs typeface="Aptos"/>
              </a:rPr>
              <a:t>Tuân thủ rủi ro</a:t>
            </a:r>
          </a:p>
        </p:txBody>
      </p:sp>
      <p:sp>
        <p:nvSpPr>
          <p:cNvPr id="16" name="Outcome body 2"/>
          <p:cNvSpPr txBox="1"/>
          <p:nvPr/>
        </p:nvSpPr>
        <p:spPr>
          <a:xfrm>
            <a:off x="1720000" y="5150000"/>
            <a:ext cx="38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Fraud/risk policy đứng trước score</a:t>
            </a:r>
          </a:p>
        </p:txBody>
      </p:sp>
      <p:sp>
        <p:nvSpPr>
          <p:cNvPr id="17" name="Outcome 3"/>
          <p:cNvSpPr/>
          <p:nvPr/>
        </p:nvSpPr>
        <p:spPr>
          <a:xfrm>
            <a:off x="6470000" y="4650000"/>
            <a:ext cx="4930000" cy="940000"/>
          </a:xfrm>
          <a:prstGeom prst="roundRect">
            <a:avLst/>
          </a:prstGeom>
          <a:solidFill>
            <a:srgbClr val="FFFDF8"/>
          </a:solidFill>
          <a:ln>
            <a:noFill/>
          </a:ln>
        </p:spPr>
      </p:sp>
      <p:sp>
        <p:nvSpPr>
          <p:cNvPr id="18" name="Outcome marker 3"/>
          <p:cNvSpPr/>
          <p:nvPr/>
        </p:nvSpPr>
        <p:spPr>
          <a:xfrm>
            <a:off x="6730000" y="4960000"/>
            <a:ext cx="240000" cy="240000"/>
          </a:xfrm>
          <a:prstGeom prst="ellipse">
            <a:avLst/>
          </a:prstGeom>
          <a:solidFill>
            <a:srgbClr val="D4922D"/>
          </a:solidFill>
          <a:ln>
            <a:noFill/>
          </a:ln>
        </p:spPr>
      </p:sp>
      <p:sp>
        <p:nvSpPr>
          <p:cNvPr id="19" name="Outcome title 3"/>
          <p:cNvSpPr txBox="1"/>
          <p:nvPr/>
        </p:nvSpPr>
        <p:spPr>
          <a:xfrm>
            <a:off x="7150000" y="4870000"/>
            <a:ext cx="3800000" cy="21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1160">
                <a:solidFill>
                  <a:srgbClr val="1A2620"/>
                </a:solidFill>
                <a:latin typeface="Aptos"/>
                <a:cs typeface="Aptos"/>
              </a:defRPr>
            </a:pPr>
            <a:r>
              <a:rPr lang="vi-VN" sz="1160" b="1">
                <a:solidFill>
                  <a:srgbClr val="1A2620"/>
                </a:solidFill>
                <a:latin typeface="Aptos"/>
                <a:cs typeface="Aptos"/>
              </a:rPr>
              <a:t>Dễ mở rộng</a:t>
            </a:r>
          </a:p>
        </p:txBody>
      </p:sp>
      <p:sp>
        <p:nvSpPr>
          <p:cNvPr id="20" name="Outcome body 3"/>
          <p:cNvSpPr txBox="1"/>
          <p:nvPr/>
        </p:nvSpPr>
        <p:spPr>
          <a:xfrm>
            <a:off x="7150000" y="5150000"/>
            <a:ext cx="38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>
              <a:spcAft>
                <a:spcPts val="0"/>
              </a:spcAft>
              <a:defRPr sz="850">
                <a:solidFill>
                  <a:srgbClr val="69746E"/>
                </a:solidFill>
                <a:latin typeface="Aptos"/>
                <a:cs typeface="Aptos"/>
              </a:defRPr>
            </a:pPr>
            <a:r>
              <a:rPr lang="vi-VN" sz="850">
                <a:solidFill>
                  <a:srgbClr val="69746E"/>
                </a:solidFill>
                <a:latin typeface="Aptos"/>
                <a:cs typeface="Aptos"/>
              </a:rPr>
              <a:t>Thêm sản phẩm bằng cấu hình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duct Catalog Visual">
  <a:themeElements>
    <a:clrScheme name="Finance">
      <a:dk1>
        <a:srgbClr val="1A2620"/>
      </a:dk1>
      <a:lt1>
        <a:srgbClr val="F4F0E8"/>
      </a:lt1>
      <a:dk2>
        <a:srgbClr val="69746E"/>
      </a:dk2>
      <a:lt2>
        <a:srgbClr val="FFFDF8"/>
      </a:lt2>
      <a:accent1>
        <a:srgbClr val="167A57"/>
      </a:accent1>
      <a:accent2>
        <a:srgbClr val="D4922D"/>
      </a:accent2>
      <a:accent3>
        <a:srgbClr val="2B6777"/>
      </a:accent3>
      <a:accent4>
        <a:srgbClr val="B74337"/>
      </a:accent4>
      <a:accent5>
        <a:srgbClr val="0D513C"/>
      </a:accent5>
      <a:accent6>
        <a:srgbClr val="ECE5D8"/>
      </a:accent6>
      <a:hlink>
        <a:srgbClr val="2B6777"/>
      </a:hlink>
      <a:folHlink>
        <a:srgbClr val="B74337"/>
      </a:folHlink>
    </a:clrScheme>
    <a:fontScheme name="Finance">
      <a:majorFont>
        <a:latin typeface="Aptos Display"/>
      </a:majorFont>
      <a:minorFont>
        <a:latin typeface="Aptos"/>
      </a:minorFont>
    </a:fontScheme>
    <a:fmtScheme name="Finan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 Visual PPTX Generator</Application>
  <PresentationFormat>Widescreen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Catalog Visual Deck</dc:title>
  <dc:creator>Codex</dc:creator>
  <cp:lastModifiedBy>Codex</cp:lastModifiedBy>
  <dcterms:created xsi:type="dcterms:W3CDTF">2026-06-09T09:54:06+00:00</dcterms:created>
  <dcterms:modified xsi:type="dcterms:W3CDTF">2026-06-09T09:54:06+00:00</dcterms:modified>
</cp:coreProperties>
</file>