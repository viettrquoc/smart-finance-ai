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Catching Card Fraud with Machine Learning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CFDDE8"/>
                </a:solidFill>
                <a:latin typeface="Calibri"/>
              </a:rPr>
              <a:t>Testing one model on 7.5 million transactions — and what happens when fraud is realistically 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Dataset: ~7.5 million synthetic card transactions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Model: XGBoost (gradient-boosted decision trees), trained on Kaggle GPUs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Two scenarios compared: data as-is (~20% fraud) vs. realistic (0.75% fraud)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IN ONE SLIDE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What: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Trained one fraud-detection model (XGBoost) on 7.5M card transactions, on Kaggle GPUs.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How tested: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Same model on 'as-is' data (~20% fraud) and 'realistic' data (0.75% fraud).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Catches fraud well: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~94% of frauds detected (recall) in both scenarios.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But false alarms surge when fraud is rare: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precision falls from 83% to 13%.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Measure honestly: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ROC-AUC hid this (0.99); precision and PR-AUC (0.82) revealed it.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Bottom line: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The model is a strong fraud-catcher; making it practical means tuning the alert threshold and tracking the right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THE GOAL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What we set out to do — in plain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Build an automatic fraud filter.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Given a card transaction, the system decides “likely fraud” or “likely fine.”</a:t>
            </a:r>
          </a:p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Use the full picture.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We trained and tested on all ~7.5 million transactions, not a small sample.</a:t>
            </a:r>
          </a:p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Stress-test it for the real world.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Real fraud is rare — well under 1% of transactions. So we tested the same model twice:</a:t>
            </a:r>
          </a:p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   • Scenario A – “as-is” data, where about 1 in 5 transactions is fraud (unrealistically high).</a:t>
            </a:r>
          </a:p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   • Scenario B – “realistic” data, where only about 1 in 133 (0.75%) is fraud, like real life.</a:t>
            </a:r>
          </a:p>
          <a:p>
            <a:pPr>
              <a:spcAft>
                <a:spcPts val="12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The question: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does a model that looks great on the easy data still hold up when fraud is rare?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THE DATA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7.5 million transactions, each labelled fraud or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700" b="1" i="0">
                <a:solidFill>
                  <a:srgbClr val="102A43"/>
                </a:solidFill>
                <a:latin typeface="Calibri"/>
              </a:rPr>
              <a:t>Every transaction comes with details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— amount, currency, country, city, merchant, device, channel (web / mobile / in-store), time of day, and more.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700" b="1" i="0">
                <a:solidFill>
                  <a:srgbClr val="102A43"/>
                </a:solidFill>
                <a:latin typeface="Calibri"/>
              </a:rPr>
              <a:t>Each one is labelled </a:t>
            </a:r>
            <a:r>
              <a:rPr sz="1700" b="0" i="0">
                <a:solidFill>
                  <a:srgbClr val="222A33"/>
                </a:solidFill>
                <a:latin typeface="Calibri"/>
              </a:rPr>
              <a:t>as genuine or fraudulent (this is what the model learns from).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700" b="1" i="0">
                <a:solidFill>
                  <a:srgbClr val="102A43"/>
                </a:solidFill>
                <a:latin typeface="Calibri"/>
              </a:rPr>
              <a:t>Two versions were built from the same data:</a:t>
            </a:r>
          </a:p>
        </p:txBody>
      </p:sp>
      <p:pic>
        <p:nvPicPr>
          <p:cNvPr id="6" name="Picture 5" descr="class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4389120" cy="143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11480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As-is: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7,483,766 rows — ~20% fraud (1 in 5)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Realistic: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6,034,304 rows — 0.75% fraud (1 in 133)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Made realistic by </a:t>
            </a:r>
            <a:r>
              <a:rPr sz="1600" b="0" i="0">
                <a:solidFill>
                  <a:srgbClr val="222A33"/>
                </a:solidFill>
                <a:latin typeface="Calibri"/>
              </a:rPr>
              <a:t>randomly keeping fewer fraud cases (fixed seed, repeatable).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WHAT WE DID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From raw data to a working model — 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129E8A"/>
                </a:solidFill>
                <a:latin typeface="Calibri"/>
              </a:rPr>
              <a:t>1. Clean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Remove personal IDs; convert text fields and the timestamp into usable numbers.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29E8A"/>
                </a:solidFill>
                <a:latin typeface="Calibri"/>
              </a:rPr>
              <a:t>2. Build features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Convert every amount to USD; pull out time-of-day, day, and 'is the bank open?'; expand recent-activity stats.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29E8A"/>
                </a:solidFill>
                <a:latin typeface="Calibri"/>
              </a:rPr>
              <a:t>3. Prepare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Pick the 20 most predictive details; split into training and testing sets; balance the training set so the model sees enough fraud examples.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29E8A"/>
                </a:solidFill>
                <a:latin typeface="Calibri"/>
              </a:rPr>
              <a:t>4. Train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Fit the XGBoost model on the full data, accelerated by Kaggle's GPUs.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29E8A"/>
                </a:solidFill>
                <a:latin typeface="Calibri"/>
              </a:rPr>
              <a:t>5. Evaluate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Score the model on held-out data it never saw — separately for each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THE MODEL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XGBoost — what it is, in everyday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It's a team of simple decision rules.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XGBoost builds hundreds of small “decision trees,” each one correcting the mistakes of the ones before it. Together they vote on every transaction.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It's the go-to tool for this kind of data.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For spreadsheet-style data (rows and columns), gradient-boosted trees like XGBoost are an industry standard and usually beat more complex methods.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It ran on GPUs.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Using Kaggle's graphics cards made training on millions of rows fast.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102A43"/>
                </a:solidFill>
                <a:latin typeface="Calibri"/>
              </a:rPr>
              <a:t>Why not a neural network?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On tabular data, trees typically match or beat neural nets while being faster and easier to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HOW WE JUDGE SUCCESS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Five scores,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 b="1" i="0">
                <a:solidFill>
                  <a:srgbClr val="1F6FB2"/>
                </a:solidFill>
                <a:latin typeface="Calibri"/>
              </a:rPr>
              <a:t>Recall  —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Of all the real frauds, how many did we catch? (higher = fewer frauds slip through)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F6FB2"/>
                </a:solidFill>
                <a:latin typeface="Calibri"/>
              </a:rPr>
              <a:t>Precision  —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Of all the transactions we flagged, how many were truly fraud? (higher = fewer false alarms)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F6FB2"/>
                </a:solidFill>
                <a:latin typeface="Calibri"/>
              </a:rPr>
              <a:t>F1-score  —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A single balance of recall and precision.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F6FB2"/>
                </a:solidFill>
                <a:latin typeface="Calibri"/>
              </a:rPr>
              <a:t>ROC-AUC  —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A popular overall score — but it can look great even when there are many false alarms.</a:t>
            </a:r>
          </a:p>
          <a:p>
            <a:pPr>
              <a:spcAft>
                <a:spcPts val="1300"/>
              </a:spcAft>
            </a:pPr>
            <a:r>
              <a:rPr sz="1900" b="1" i="0">
                <a:solidFill>
                  <a:srgbClr val="1F6FB2"/>
                </a:solidFill>
                <a:latin typeface="Calibri"/>
              </a:rPr>
              <a:t>PR-AUC  —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A fairer overall score when fraud is rare — it reflects the false-alarm problem honestly.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RESULTS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The same model, two scenarios —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As-is (~20% fraud)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Realistic (0.75% fraud)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93.6%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13.2%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A33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02A43"/>
                </a:solidFill>
                <a:latin typeface="Calibri"/>
              </a:rPr>
              <a:t>Reading it: 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the model catches ~94% of fraud in BOTH scenarios. But when fraud is realistically rare,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precision crashes from 83% to 13% </a:t>
            </a:r>
            <a:r>
              <a:rPr sz="1800" b="0" i="0">
                <a:solidFill>
                  <a:srgbClr val="222A33"/>
                </a:solidFill>
                <a:latin typeface="Calibri"/>
              </a:rPr>
              <a:t>— only about 1 in 8 alerts is real. Note ROC-AUC barely moved (0.99 → 0.99), while PR-AUC dropped (0.97 → 0.82) and told the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RESULTS — SCENARIO 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As-is data (~20% fraud): looks strong</a:t>
            </a:r>
          </a:p>
        </p:txBody>
      </p:sp>
      <p:pic>
        <p:nvPicPr>
          <p:cNvPr id="5" name="Picture 4" descr="untouched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8412480" cy="2433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0" y="173736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Recall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93.9%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Precision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83.0%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F1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0.881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ROC-AUC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0.988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PR-AUC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0.969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Calibri"/>
              </a:rPr>
              <a:t>When fraud is common, most flags are correct (83%). The curves (left: ROC, middle: precision-recall) sit near the top — a healthy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RESULTS — SCENARIO B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Realistic data (0.75% fraud): the false-alarm problem</a:t>
            </a:r>
          </a:p>
        </p:txBody>
      </p:sp>
      <p:pic>
        <p:nvPicPr>
          <p:cNvPr id="5" name="Picture 4" descr="realistic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8412480" cy="2433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5440" y="173736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Recall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93.6%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Precision
</a:t>
            </a:r>
            <a:r>
              <a:rPr sz="2200" b="1" i="0">
                <a:solidFill>
                  <a:srgbClr val="C0392B"/>
                </a:solidFill>
                <a:latin typeface="Calibri"/>
              </a:rPr>
              <a:t>13.2%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F1
</a:t>
            </a:r>
            <a:r>
              <a:rPr sz="2200" b="1" i="0">
                <a:solidFill>
                  <a:srgbClr val="C0392B"/>
                </a:solidFill>
                <a:latin typeface="Calibri"/>
              </a:rPr>
              <a:t>0.232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ROC-AUC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0.988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555F6B"/>
                </a:solidFill>
                <a:latin typeface="Calibri"/>
              </a:rPr>
              <a:t>PR-AUC
</a:t>
            </a:r>
            <a:r>
              <a:rPr sz="2200" b="1" i="0">
                <a:solidFill>
                  <a:srgbClr val="102A43"/>
                </a:solidFill>
                <a:latin typeface="Calibri"/>
              </a:rPr>
              <a:t>0.817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F6B"/>
                </a:solidFill>
                <a:latin typeface="Calibri"/>
              </a:rPr>
              <a:t>Same model, still catches ~94% of fraud — but to do so it raised ~64,000 alerts to find ~8,500 frauds (~55,000 false alarms). The precision-recall curve (middle) drops sharply.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29E8A"/>
                </a:solidFill>
                <a:latin typeface="Calibri"/>
              </a:rPr>
              <a:t>THE KEY INSIGHT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Catching fraud is the easy part. Not crying wolf is the hard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Rare events are deceptive. </a:t>
            </a:r>
            <a:r>
              <a:rPr sz="1800" b="0" i="0">
                <a:solidFill>
                  <a:srgbClr val="D7E2EC"/>
                </a:solidFill>
                <a:latin typeface="Calibri"/>
              </a:rPr>
              <a:t>A model can catch 94% of fraud and still be wrong on most of its alerts — because there are so many genuine transactions that even a tiny error rate buries the few real frauds.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Accuracy and ROC-AUC can mislead. </a:t>
            </a:r>
            <a:r>
              <a:rPr sz="1800" b="0" i="0">
                <a:solidFill>
                  <a:srgbClr val="D7E2EC"/>
                </a:solidFill>
                <a:latin typeface="Calibri"/>
              </a:rPr>
              <a:t>Both stayed ~0.99 in the realistic test, hiding the problem entirely.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Use the right yardstick. </a:t>
            </a:r>
            <a:r>
              <a:rPr sz="1800" b="0" i="0">
                <a:solidFill>
                  <a:srgbClr val="D7E2EC"/>
                </a:solidFill>
                <a:latin typeface="Calibri"/>
              </a:rPr>
              <a:t>Precision and PR-AUC exposed the truth (precision 13%, PR-AUC 0.82). For rare-fraud problems, these should be the headline numbers.</a:t>
            </a:r>
          </a:p>
          <a:p>
            <a:pPr>
              <a:spcAft>
                <a:spcPts val="1400"/>
              </a:spcAft>
            </a:pPr>
            <a:r>
              <a:rPr sz="1600" b="1" i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This is a feature, not a failure. </a:t>
            </a:r>
            <a:r>
              <a:rPr sz="1800" b="0" i="0">
                <a:solidFill>
                  <a:srgbClr val="D7E2EC"/>
                </a:solidFill>
                <a:latin typeface="Calibri"/>
              </a:rPr>
              <a:t>The experiment did exactly its job: it shows how a 'great' model behaves once it meets real-world fraud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2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29E8A"/>
                </a:solidFill>
                <a:latin typeface="Calibri"/>
              </a:rPr>
              <a:t>WHAT TO DO NEXT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Turning these results into a usable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Tune the alert threshold.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Instead of a fixed cut-off, dial it to the level of false alarms a fraud team can actually handle.</a:t>
            </a:r>
          </a:p>
          <a:p>
            <a:pPr>
              <a:spcAft>
                <a:spcPts val="13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Judge it by precision &amp; PR-AUC.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Track 'how many alerts are real' — not accuracy or ROC-AUC — when fraud is rare.</a:t>
            </a:r>
          </a:p>
          <a:p>
            <a:pPr>
              <a:spcAft>
                <a:spcPts val="13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Weigh the trade-off explicitly.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Each missed fraud has a cost; each false alarm has a cost (staff time, annoyed customers). Choose the balance deliberately.</a:t>
            </a:r>
          </a:p>
          <a:p>
            <a:pPr>
              <a:spcAft>
                <a:spcPts val="13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Add a review step.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Use the model to rank and </a:t>
            </a:r>
            <a:r>
              <a:rPr sz="1800" b="0" i="0" dirty="0" err="1">
                <a:solidFill>
                  <a:srgbClr val="222A33"/>
                </a:solidFill>
                <a:latin typeface="Calibri"/>
              </a:rPr>
              <a:t>prioritise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, with humans (or a second check) confirming the riskiest alerts.</a:t>
            </a:r>
          </a:p>
          <a:p>
            <a:pPr>
              <a:spcAft>
                <a:spcPts val="1300"/>
              </a:spcAft>
            </a:pPr>
            <a:r>
              <a:rPr sz="1600" b="1" i="0" dirty="0">
                <a:solidFill>
                  <a:srgbClr val="129E8A"/>
                </a:solidFill>
                <a:latin typeface="Calibri"/>
              </a:rPr>
              <a:t>▶  </a:t>
            </a:r>
            <a:r>
              <a:rPr sz="1800" b="1" i="0" dirty="0">
                <a:solidFill>
                  <a:srgbClr val="102A43"/>
                </a:solidFill>
                <a:latin typeface="Calibri"/>
              </a:rPr>
              <a:t>Keep improving. </a:t>
            </a:r>
            <a:r>
              <a:rPr sz="1800" b="0" i="0" dirty="0">
                <a:solidFill>
                  <a:srgbClr val="222A33"/>
                </a:solidFill>
                <a:latin typeface="Calibri"/>
              </a:rPr>
              <a:t>More features, threshold calibration, and cost-based tuning can lift precision without losing much fraud.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F6B"/>
                </a:solidFill>
                <a:latin typeface="Calibri"/>
              </a:rPr>
              <a:t>Fraud Detection — v2 experiment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F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1380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Thang Nguyen Ngoc</cp:lastModifiedBy>
  <cp:revision>2</cp:revision>
  <dcterms:created xsi:type="dcterms:W3CDTF">2013-01-27T09:14:16Z</dcterms:created>
  <dcterms:modified xsi:type="dcterms:W3CDTF">2026-06-04T09:19:47Z</dcterms:modified>
  <cp:category/>
</cp:coreProperties>
</file>