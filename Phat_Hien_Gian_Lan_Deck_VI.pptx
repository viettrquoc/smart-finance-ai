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Phát Hiện Gian Lận Đa Kênh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B4D8"/>
                </a:solidFill>
              </a:rPr>
              <a:t>Sản Phẩm Học Máy Toàn Diện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Giao dịch tổng hợp, chân thực, phân bố toàn cầu — chấm điểm theo thời gian thực.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280160"/>
            <a:ext cx="2468880" cy="43891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5548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A261"/>
                </a:solidFill>
              </a:rPr>
              <a:t>250K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856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Giao dịch lấy mẫu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A261"/>
                </a:solidFill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953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Cột đặc trưng gốc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A261"/>
                </a:solidFill>
              </a:rPr>
              <a:t>&lt;0,2%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405079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Tỷ lệ gian lận gốc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A261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1480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Mô hình so sánh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Dựa trên: Kaggle · ismetsemedov/transactions  ·  notebook: fraud-detection.ipynb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Vì sao phát hiện gian lận hiện đại khó — và vì sao điều đó quan trọng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34747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Tác Động Tài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A261"/>
                </a:solidFill>
              </a:rPr>
              <a:t>48 tỷ$+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Thiệt hại toàn cầu mỗi
năm do gian lận thanh toán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63040"/>
            <a:ext cx="3657600" cy="34747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8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Mất Cân Bằng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A261"/>
                </a:solidFill>
              </a:rPr>
              <a:t>&lt;0,2%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697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Tỷ lệ gian lận gốc —
mất cân bằng nghiêm trọng,
mô hình rỗng đã đạt 99,8%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463040"/>
            <a:ext cx="3657600" cy="34747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6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Bề Mặt Tấn Công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A261"/>
                </a:solidFill>
              </a:rPr>
              <a:t>Đa kênh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697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Gian lận trải khắp web,
di động, POS — qua nhiều
quốc gia, tiền tệ, thiết bị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430000" cy="1417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93792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Điểm Mấu Chốt:  Độ chính xác (accuracy) vô nghĩa ở đây — mô hình luôn dự đoán “không gian lận” đã đạt 99,8%. Notebook xử lý bằng RandomOverSampler về tỷ lệ 50/50, chuẩn hóa MinMax, và các chỉ số thực sự quan trọng: Recall, F1, và ROC-AUC.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Bộ Dữ Liệu &amp; Phân Tích Khám Phá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Mẫu 250K dòng thực sự đã cho thấy điều gì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114800" cy="521208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Tổng Quan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74903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</a:rPr>
              <a:t>▸  250.000 </a:t>
            </a:r>
            <a:r>
              <a:rPr sz="1300" dirty="0" err="1">
                <a:solidFill>
                  <a:srgbClr val="FFFFFF"/>
                </a:solidFill>
              </a:rPr>
              <a:t>dòng</a:t>
            </a:r>
            <a:r>
              <a:rPr sz="1300" dirty="0">
                <a:solidFill>
                  <a:srgbClr val="FFFFFF"/>
                </a:solidFill>
              </a:rPr>
              <a:t> được lấy </a:t>
            </a:r>
            <a:r>
              <a:rPr sz="1300" dirty="0" err="1" smtClean="0">
                <a:solidFill>
                  <a:srgbClr val="FFFFFF"/>
                </a:solidFill>
              </a:rPr>
              <a:t>mẫu</a:t>
            </a:r>
            <a:r>
              <a:rPr lang="en-US" sz="1300" dirty="0" smtClean="0">
                <a:solidFill>
                  <a:srgbClr val="FFFFFF"/>
                </a:solidFill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</a:rPr>
              <a:t>từ</a:t>
            </a:r>
            <a:r>
              <a:rPr lang="en-US" sz="1300" dirty="0" smtClean="0">
                <a:solidFill>
                  <a:srgbClr val="FFFFFF"/>
                </a:solidFill>
              </a:rPr>
              <a:t> 7,4 </a:t>
            </a:r>
            <a:r>
              <a:rPr lang="en-US" sz="1300" dirty="0" err="1" smtClean="0">
                <a:solidFill>
                  <a:srgbClr val="FFFFFF"/>
                </a:solidFill>
              </a:rPr>
              <a:t>triệu</a:t>
            </a:r>
            <a:r>
              <a:rPr lang="en-US" sz="1300" dirty="0" smtClean="0">
                <a:solidFill>
                  <a:srgbClr val="FFFFFF"/>
                </a:solidFill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</a:rPr>
              <a:t>dòng</a:t>
            </a:r>
            <a:r>
              <a:rPr lang="en-US" sz="1300" dirty="0" smtClean="0">
                <a:solidFill>
                  <a:srgbClr val="FFFFFF"/>
                </a:solidFill>
              </a:rPr>
              <a:t> </a:t>
            </a:r>
            <a:r>
              <a:rPr sz="1300" dirty="0" smtClean="0">
                <a:solidFill>
                  <a:srgbClr val="FFFFFF"/>
                </a:solidFill>
              </a:rPr>
              <a:t>(</a:t>
            </a:r>
            <a:r>
              <a:rPr sz="1300" dirty="0" err="1" smtClean="0">
                <a:solidFill>
                  <a:srgbClr val="FFFFFF"/>
                </a:solidFill>
              </a:rPr>
              <a:t>random_state</a:t>
            </a:r>
            <a:r>
              <a:rPr sz="1300" dirty="0" smtClean="0">
                <a:solidFill>
                  <a:srgbClr val="FFFFFF"/>
                </a:solidFill>
              </a:rPr>
              <a:t>=21</a:t>
            </a:r>
            <a:r>
              <a:rPr sz="1300" dirty="0">
                <a:solidFill>
                  <a:srgbClr val="FFFFFF"/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</a:rPr>
              <a:t>▸  24 cột — có </a:t>
            </a:r>
            <a:r>
              <a:rPr sz="1300" dirty="0" err="1">
                <a:solidFill>
                  <a:srgbClr val="FFFFFF"/>
                </a:solidFill>
              </a:rPr>
              <a:t>tên</a:t>
            </a:r>
            <a:r>
              <a:rPr sz="1300" dirty="0">
                <a:solidFill>
                  <a:srgbClr val="FFFFFF"/>
                </a:solidFill>
              </a:rPr>
              <a:t> </a:t>
            </a:r>
            <a:r>
              <a:rPr sz="1300" dirty="0" err="1">
                <a:solidFill>
                  <a:srgbClr val="FFFFFF"/>
                </a:solidFill>
              </a:rPr>
              <a:t>rõ</a:t>
            </a:r>
            <a:r>
              <a:rPr sz="1300" dirty="0">
                <a:solidFill>
                  <a:srgbClr val="FFFFFF"/>
                </a:solidFill>
              </a:rPr>
              <a:t>, </a:t>
            </a:r>
            <a:r>
              <a:rPr sz="1300" dirty="0" err="1">
                <a:solidFill>
                  <a:srgbClr val="FFFFFF"/>
                </a:solidFill>
              </a:rPr>
              <a:t>không</a:t>
            </a:r>
            <a:r>
              <a:rPr sz="1300" dirty="0">
                <a:solidFill>
                  <a:srgbClr val="FFFFFF"/>
                </a:solidFill>
              </a:rPr>
              <a:t> bị PCA </a:t>
            </a:r>
            <a:r>
              <a:rPr sz="1300" dirty="0" err="1">
                <a:solidFill>
                  <a:srgbClr val="FFFFFF"/>
                </a:solidFill>
              </a:rPr>
              <a:t>che</a:t>
            </a:r>
            <a:endParaRPr sz="13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</a:rPr>
              <a:t>▸  </a:t>
            </a:r>
            <a:r>
              <a:rPr sz="1300" dirty="0" err="1">
                <a:solidFill>
                  <a:srgbClr val="FFFFFF"/>
                </a:solidFill>
              </a:rPr>
              <a:t>Dict</a:t>
            </a:r>
            <a:r>
              <a:rPr sz="1300" dirty="0">
                <a:solidFill>
                  <a:srgbClr val="FFFFFF"/>
                </a:solidFill>
              </a:rPr>
              <a:t> velocity → 5 </a:t>
            </a:r>
            <a:r>
              <a:rPr sz="1300" dirty="0" err="1">
                <a:solidFill>
                  <a:srgbClr val="FFFFFF"/>
                </a:solidFill>
              </a:rPr>
              <a:t>đặc</a:t>
            </a:r>
            <a:r>
              <a:rPr sz="1300" dirty="0">
                <a:solidFill>
                  <a:srgbClr val="FFFFFF"/>
                </a:solidFill>
              </a:rPr>
              <a:t> </a:t>
            </a:r>
            <a:r>
              <a:rPr sz="1300" dirty="0" err="1">
                <a:solidFill>
                  <a:srgbClr val="FFFFFF"/>
                </a:solidFill>
              </a:rPr>
              <a:t>trưng</a:t>
            </a:r>
            <a:r>
              <a:rPr sz="1300" dirty="0">
                <a:solidFill>
                  <a:srgbClr val="FFFFFF"/>
                </a:solidFill>
              </a:rPr>
              <a:t> </a:t>
            </a:r>
            <a:r>
              <a:rPr sz="1300" dirty="0" err="1">
                <a:solidFill>
                  <a:srgbClr val="FFFFFF"/>
                </a:solidFill>
              </a:rPr>
              <a:t>số</a:t>
            </a:r>
            <a:endParaRPr sz="13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</a:rPr>
              <a:t>▸  </a:t>
            </a:r>
            <a:r>
              <a:rPr sz="1300" dirty="0" err="1">
                <a:solidFill>
                  <a:srgbClr val="FFFFFF"/>
                </a:solidFill>
              </a:rPr>
              <a:t>Đa</a:t>
            </a:r>
            <a:r>
              <a:rPr sz="1300" dirty="0">
                <a:solidFill>
                  <a:srgbClr val="FFFFFF"/>
                </a:solidFill>
              </a:rPr>
              <a:t> tiền </a:t>
            </a:r>
            <a:r>
              <a:rPr sz="1300" dirty="0" err="1">
                <a:solidFill>
                  <a:srgbClr val="FFFFFF"/>
                </a:solidFill>
              </a:rPr>
              <a:t>tệ</a:t>
            </a:r>
            <a:r>
              <a:rPr sz="1300" dirty="0">
                <a:solidFill>
                  <a:srgbClr val="FFFFFF"/>
                </a:solidFill>
              </a:rPr>
              <a:t>: EUR, USD, RUB, NGN, MXN…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</a:rPr>
              <a:t>▸  </a:t>
            </a:r>
            <a:r>
              <a:rPr sz="1300" dirty="0" err="1">
                <a:solidFill>
                  <a:srgbClr val="FFFFFF"/>
                </a:solidFill>
              </a:rPr>
              <a:t>Kênh</a:t>
            </a:r>
            <a:r>
              <a:rPr sz="1300" dirty="0">
                <a:solidFill>
                  <a:srgbClr val="FFFFFF"/>
                </a:solidFill>
              </a:rPr>
              <a:t>: web · di </a:t>
            </a:r>
            <a:r>
              <a:rPr sz="1300" dirty="0" err="1">
                <a:solidFill>
                  <a:srgbClr val="FFFFFF"/>
                </a:solidFill>
              </a:rPr>
              <a:t>động</a:t>
            </a:r>
            <a:r>
              <a:rPr sz="1300" dirty="0">
                <a:solidFill>
                  <a:srgbClr val="FFFFFF"/>
                </a:solidFill>
              </a:rPr>
              <a:t> · POS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FFFFFF"/>
                </a:solidFill>
              </a:rPr>
              <a:t>▸  </a:t>
            </a:r>
            <a:r>
              <a:rPr sz="1300" dirty="0" err="1">
                <a:solidFill>
                  <a:srgbClr val="FFFFFF"/>
                </a:solidFill>
              </a:rPr>
              <a:t>Không</a:t>
            </a:r>
            <a:r>
              <a:rPr sz="1300" dirty="0">
                <a:solidFill>
                  <a:srgbClr val="FFFFFF"/>
                </a:solidFill>
              </a:rPr>
              <a:t> thiếu </a:t>
            </a:r>
            <a:r>
              <a:rPr sz="1300" dirty="0" err="1">
                <a:solidFill>
                  <a:srgbClr val="FFFFFF"/>
                </a:solidFill>
              </a:rPr>
              <a:t>giá</a:t>
            </a:r>
            <a:r>
              <a:rPr sz="1300" dirty="0">
                <a:solidFill>
                  <a:srgbClr val="FFFFFF"/>
                </a:solidFill>
              </a:rPr>
              <a:t> </a:t>
            </a:r>
            <a:r>
              <a:rPr sz="1300" dirty="0" err="1">
                <a:solidFill>
                  <a:srgbClr val="FFFFFF"/>
                </a:solidFill>
              </a:rPr>
              <a:t>trị</a:t>
            </a:r>
            <a:r>
              <a:rPr sz="1300" dirty="0">
                <a:solidFill>
                  <a:srgbClr val="FFFFFF"/>
                </a:solidFill>
              </a:rPr>
              <a:t> · </a:t>
            </a:r>
            <a:r>
              <a:rPr sz="1300" dirty="0" err="1">
                <a:solidFill>
                  <a:srgbClr val="FFFFFF"/>
                </a:solidFill>
              </a:rPr>
              <a:t>không</a:t>
            </a:r>
            <a:r>
              <a:rPr sz="1300" dirty="0">
                <a:solidFill>
                  <a:srgbClr val="FFFFFF"/>
                </a:solidFill>
              </a:rPr>
              <a:t> </a:t>
            </a:r>
            <a:r>
              <a:rPr sz="1300" dirty="0" err="1">
                <a:solidFill>
                  <a:srgbClr val="FFFFFF"/>
                </a:solidFill>
              </a:rPr>
              <a:t>trùng</a:t>
            </a:r>
            <a:r>
              <a:rPr sz="1300" dirty="0">
                <a:solidFill>
                  <a:srgbClr val="FFFFFF"/>
                </a:solidFill>
              </a:rPr>
              <a:t> </a:t>
            </a:r>
            <a:r>
              <a:rPr sz="1300" dirty="0" err="1">
                <a:solidFill>
                  <a:srgbClr val="FFFFFF"/>
                </a:solidFill>
              </a:rPr>
              <a:t>lặp</a:t>
            </a:r>
            <a:endParaRPr sz="130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Khu Vực Rủi Ro 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Nga, Nigeria, Mexico, Brazil chiếm phần lớn gian lận
Nigeria có số tiền gian lận trung vị cao nhất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0487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Thiết Bị Đáng Ngờ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79191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NFC Payment, Magnetic Stripe, Chip Reader = 100% gian lận
Kênh POS trong mẫu chỉ thấy giao dịch gian lận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38144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Tín Hiệu Xuyên Biên Giới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12463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Giao dịch lớn của người nước ngoài tại 4 quốc gia này
hầu như luôn là gian lận (online + ngoài quê hương)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471416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Mẫu Hình Số Tiền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74573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Số tiền gian lận trung vị cao hơn giao dịch hợp lệ ở mọi giờ
Lệch phải nặng → chuẩn hóa về 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50468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Mẫu Hình Thời Gian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779007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Tần suất gian lận tăng vọt lúc 9 giờ (ngân hàng mở cửa)
Tần suất hợp lệ tăng dần đến 17 giờ (đóng cửa)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Quy Trình Học Máy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Từ giao dịch thô đến mô hình sẵn sàng triển khai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1463040" cy="2560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1
Thu Thập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synthetic_fraud
_data.csv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1691640"/>
            <a:ext cx="1463040" cy="2560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4248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2
Làm Sạch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4248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Bỏ PII (5 cột)
Parse velocity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57016" y="1691640"/>
            <a:ext cx="1463040" cy="2560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2736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3
Tạo Đặc Trưng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Đổi sang USD
is_bank_operating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75504" y="1691640"/>
            <a:ext cx="1463040" cy="2560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21224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4
Mã Hóa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Ordinal: card_type
One-hot phần còn lại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93992" y="1691640"/>
            <a:ext cx="1463040" cy="2560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9712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5
Cân Bằng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RandomOverSampler
→ 50 / 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691640"/>
            <a:ext cx="1463040" cy="256032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6
Chuẩn + Huấn Luyện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MinMax · 80/20
stratified 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30968" y="1691640"/>
            <a:ext cx="146304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76688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7
Đánh Giá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Recall · F1 · AUC
Ma trận nhầm lẫn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2880360"/>
            <a:ext cx="1554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01568" y="2880360"/>
            <a:ext cx="1554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0056" y="2880360"/>
            <a:ext cx="1554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38544" y="2880360"/>
            <a:ext cx="1554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57032" y="2880360"/>
            <a:ext cx="1554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2880360"/>
            <a:ext cx="1554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4572000"/>
            <a:ext cx="1152144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617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C4DE"/>
                </a:solidFill>
              </a:rPr>
              <a:t>Chọn đặc trưng:  Sau khi one-hot các biến phân loại (top-20 merchant + “Other”, quốc gia, thành phố, thiết bị, kênh, v.v.), notebook giữ lại 20 đặc trưng có tương quan cao nhất với is_fraud — loại bỏ nhiễu và tăng tốc huấn luyện cây.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Bỏ PII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92808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38528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Đổi USD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65576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11296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Parse Velocity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38344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84064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Giờ Ngân Hàng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11112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56832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Ordinal 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80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0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Top-20 + Khác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56648" y="5715000"/>
            <a:ext cx="1508760" cy="45720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02368" y="57698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RandomOverSample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Hiệu Năng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Năm mô hình được đánh giá trên tập kiểm tra 20% (50K dòng)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37744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5270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Mô Hình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20"/>
            <a:ext cx="1371600" cy="530352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152704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17320"/>
            <a:ext cx="1371600" cy="530352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7952" y="152704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417320"/>
            <a:ext cx="1371600" cy="530352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152704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417320"/>
            <a:ext cx="2011680" cy="530352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31152" y="152704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Ghi Chú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47672"/>
            <a:ext cx="237744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057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Cây Quyết Định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947672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16352" y="205740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947672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87952" y="205740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1947672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59552" y="205740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947672"/>
            <a:ext cx="201168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31152" y="20574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Cây cơ sở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78024"/>
            <a:ext cx="2377440" cy="53035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258775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AdaBoost (100)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478024"/>
            <a:ext cx="1371600" cy="53035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16352" y="25877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478024"/>
            <a:ext cx="1371600" cy="53035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87952" y="25877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2478024"/>
            <a:ext cx="1371600" cy="53035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59552" y="25877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478024"/>
            <a:ext cx="2011680" cy="53035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31152" y="25877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Stump tăng cường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08376"/>
            <a:ext cx="237744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" y="311810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008376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16352" y="311810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008376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87952" y="311810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008376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9552" y="311810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3008376"/>
            <a:ext cx="201168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31152" y="311810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Cơ sở mạnh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538728"/>
            <a:ext cx="2377440" cy="53035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3648456"/>
            <a:ext cx="228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 err="1">
                <a:solidFill>
                  <a:srgbClr val="F4A261"/>
                </a:solidFill>
              </a:rPr>
              <a:t>Rừng</a:t>
            </a:r>
            <a:r>
              <a:rPr sz="1250" b="1" i="0" dirty="0">
                <a:solidFill>
                  <a:srgbClr val="F4A261"/>
                </a:solidFill>
              </a:rPr>
              <a:t> </a:t>
            </a:r>
            <a:r>
              <a:rPr sz="1250" b="1" i="0" dirty="0" err="1">
                <a:solidFill>
                  <a:srgbClr val="F4A261"/>
                </a:solidFill>
              </a:rPr>
              <a:t>Ngẫu</a:t>
            </a:r>
            <a:r>
              <a:rPr sz="1250" b="1" i="0" dirty="0">
                <a:solidFill>
                  <a:srgbClr val="F4A261"/>
                </a:solidFill>
              </a:rPr>
              <a:t> Nhiên </a:t>
            </a:r>
            <a:r>
              <a:rPr lang="en-US" sz="1250" b="1" i="0" dirty="0" smtClean="0">
                <a:solidFill>
                  <a:srgbClr val="F4A261"/>
                </a:solidFill>
              </a:rPr>
              <a:t>(</a:t>
            </a:r>
            <a:r>
              <a:rPr lang="en-US" sz="1250" b="1" i="0" smtClean="0">
                <a:solidFill>
                  <a:srgbClr val="F4A261"/>
                </a:solidFill>
              </a:rPr>
              <a:t>Random Forest</a:t>
            </a:r>
          </a:p>
          <a:p>
            <a:pPr algn="l"/>
            <a:r>
              <a:rPr lang="en-US" sz="1250" b="1" i="0" smtClean="0">
                <a:solidFill>
                  <a:srgbClr val="F4A261"/>
                </a:solidFill>
              </a:rPr>
              <a:t>) </a:t>
            </a:r>
            <a:endParaRPr lang="en-US" sz="1250" b="1" i="0" dirty="0" smtClean="0">
              <a:solidFill>
                <a:srgbClr val="F4A261"/>
              </a:solidFill>
            </a:endParaRPr>
          </a:p>
          <a:p>
            <a:pPr algn="l"/>
            <a:r>
              <a:rPr sz="1250" b="1" i="0" dirty="0" smtClean="0">
                <a:solidFill>
                  <a:srgbClr val="F4A261"/>
                </a:solidFill>
              </a:rPr>
              <a:t>(100</a:t>
            </a:r>
            <a:r>
              <a:rPr sz="1250" b="1" i="0" dirty="0">
                <a:solidFill>
                  <a:srgbClr val="F4A261"/>
                </a:solidFill>
              </a:rPr>
              <a:t>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538728"/>
            <a:ext cx="1371600" cy="53035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16352" y="364845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4A261"/>
                </a:solidFill>
              </a:rPr>
              <a:t>0,99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3538728"/>
            <a:ext cx="1371600" cy="53035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87952" y="364845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4A261"/>
                </a:solidFill>
              </a:rPr>
              <a:t>0,99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3538728"/>
            <a:ext cx="1371600" cy="53035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59552" y="364845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4A261"/>
                </a:solidFill>
              </a:rPr>
              <a:t>0,99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3538728"/>
            <a:ext cx="2011680" cy="530352"/>
          </a:xfrm>
          <a:prstGeom prst="rect">
            <a:avLst/>
          </a:prstGeom>
          <a:solidFill>
            <a:srgbClr val="0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31152" y="364845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4A261"/>
                </a:solidFill>
              </a:rPr>
              <a:t>★ Ensemble tốt nhất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069080"/>
            <a:ext cx="237744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38912" y="41788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Mạng Nơ-ron (128-1)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4069080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16352" y="417880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4069080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87952" y="417880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4069080"/>
            <a:ext cx="137160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59552" y="417880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0,98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4069080"/>
            <a:ext cx="2011680" cy="530352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931152" y="41788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10 epoch · batch 100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645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C4DE"/>
                </a:solidFill>
              </a:rPr>
              <a:t>★ Rừng Ngẫu Nhiên dẫn đầu.  Các con số mang tính minh họa — chạy lại notebook để lấy số liệu chính xác.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0" y="1417320"/>
            <a:ext cx="3108960" cy="14630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1540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Recall là kim chỉ nam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15400" y="1874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Trên tập huấn luyện cân bằng 50/50, mô hình gần như hoàn hảo. Hiệu chỉnh trong môi trường thực là bắt buộc.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8240" y="2990088"/>
            <a:ext cx="3108960" cy="14630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915400" y="3081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Cảnh giác mất cân bằng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15400" y="344728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Tỷ lệ gian lận gốc &lt;0,2%. Upsample 50/50 thổi phồng chỉ số trên test — PR-AUC trên phân phối gốc sẽ khác.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78240" y="4562856"/>
            <a:ext cx="3108960" cy="14630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915400" y="465429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Đặc trưng tương quan cao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15400" y="5020056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distance_from_home, card_present, channel=POS, cờ quốc gia và loại thiết bị chiếm phần tương quan ≥ 0,5.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Lợi Ích Cho Người Dùng Cuối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Ai được lợi — và cụ thể được lợi gì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51206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👤  Chủ Thẻ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Bảo vệ thời gian thực trên web, di động,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Kiểm tra thông minh hơn cho giao dịch nước ngoài /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Ít từ chối nhầm các giao dịch hợp lệ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An tâm nhờ chấm điểm minh bạch, dựa trên dữ liệu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399" y="1371600"/>
            <a:ext cx="3749039" cy="51206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399" y="1371600"/>
            <a:ext cx="3749039" cy="594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39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🏦  Ngân Hàng &amp; Đơn Vị Phát 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0574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Recall cao — bắt phần lớn gian lận ở quy mô lớn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Giảm chi phí chargeback và hàng đợi xét duyệt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6118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Tín hiệu địa lý + thiết bị + velocity trong một mô hình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389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Chuẩn hóa tiền tệ — dùng được ở mọi thị trường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38" y="1371600"/>
            <a:ext cx="3749039" cy="51206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38" y="1371600"/>
            <a:ext cx="3749039" cy="594360"/>
          </a:xfrm>
          <a:prstGeom prst="rect">
            <a:avLst/>
          </a:prstGeom>
          <a:solidFill>
            <a:srgbClr val="80E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8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🛒  Đơn Vị Bán Hàng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8" y="20574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Giảm tỷ lệ tranh chấp và phí chargeback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8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Tăng tỷ lệ duyệt thanh toán cho khách hàng thật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8" y="36118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Phủ đa kênh — web, di động, cửa hàng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198" y="4389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Niềm tin khách hàng → giá trị vòng đời cao hơn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Cam kết cốt lõi: phát hiện gian lận nhanh trên mọi kênh, bảo vệ giao dịch tốt, giảm gánh nặng xét duyệt thủ công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Tổng Kết &amp; Bước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Đã xây gì, đã chứng minh gì, đi đâu tiếp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16636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Sản Phẩm Mang Lại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 Pipeline toàn diện trên mẫu 250K dòng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 Chuẩn hóa số tiền về USD (10 tỷ giá)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 Dict velocity tách thành 5 tín hiệu số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953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 5 mô hình so sánh: RF, GB, AdaBoost, DT, 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537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 Top-20 đặc trưng tương quan cho huấn luyện nhanh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 Có thể tái lập — seed cố định (21, 97, 42)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2743200" cy="5166360"/>
          </a:xfrm>
          <a:prstGeom prst="rect">
            <a:avLst/>
          </a:prstGeom>
          <a:solidFill>
            <a:srgbClr val="0F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Mô Hình Tốt Nhất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Rừng Ngẫu Nhiên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0,99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7157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0,99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493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886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0,99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2702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0474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Cây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440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8247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Đặc trưng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1371600"/>
            <a:ext cx="2926080" cy="516636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Bước Tiếp Theo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920240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60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920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Đánh giá trên tập
gốc mất cân bằng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2807208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8072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Thêm SHAP để kiểm
tra cấp đặc trưng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694176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3675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6941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Thử XGBoost +
LightGBM đối đầu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4581144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52560" y="45628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5811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Stream velocity
từ event bus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5468112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52560" y="5449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54681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Tinh chỉnh ngưỡng
kiểm soát chi phí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1002</Words>
  <Application>Microsoft Office PowerPoint</Application>
  <PresentationFormat>Custom</PresentationFormat>
  <Paragraphs>158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Thang Nguyen Ngoc</cp:lastModifiedBy>
  <cp:revision>2</cp:revision>
  <dcterms:created xsi:type="dcterms:W3CDTF">2013-01-27T09:14:16Z</dcterms:created>
  <dcterms:modified xsi:type="dcterms:W3CDTF">2026-06-01T08:22:10Z</dcterms:modified>
  <cp:category/>
</cp:coreProperties>
</file>